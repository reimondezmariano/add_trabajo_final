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737"/>
    <p:restoredTop sz="94682"/>
  </p:normalViewPr>
  <p:slideViewPr>
    <p:cSldViewPr snapToGrid="0" snapToObjects="1">
      <p:cViewPr varScale="1">
        <p:scale>
          <a:sx n="160" d="100"/>
          <a:sy n="160" d="100"/>
        </p:scale>
        <p:origin x="176" y="3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82B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309360" y="-1280160"/>
            <a:ext cx="4462272" cy="4462272"/>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406640" y="2194560"/>
            <a:ext cx="3218688" cy="321868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658368"/>
            <a:ext cx="7315200" cy="237744"/>
          </a:xfrm>
          <a:prstGeom prst="rect">
            <a:avLst/>
          </a:prstGeom>
          <a:noFill/>
        </p:spPr>
        <p:txBody>
          <a:bodyPr wrap="square" lIns="0" tIns="0" rIns="0" bIns="0" anchor="t">
            <a:spAutoFit/>
          </a:bodyPr>
          <a:lstStyle/>
          <a:p>
            <a:pPr algn="l">
              <a:lnSpc>
                <a:spcPct val="100000"/>
              </a:lnSpc>
            </a:pPr>
            <a:r>
              <a:rPr sz="1000" b="1" i="0">
                <a:solidFill>
                  <a:srgbClr val="E8A33D"/>
                </a:solidFill>
                <a:latin typeface="Calibri"/>
              </a:rPr>
              <a:t>ANÁLISIS DE DATOS E IA · TRABAJO FINAL</a:t>
            </a:r>
          </a:p>
        </p:txBody>
      </p:sp>
      <p:sp>
        <p:nvSpPr>
          <p:cNvPr id="6" name="TextBox 5"/>
          <p:cNvSpPr txBox="1"/>
          <p:nvPr/>
        </p:nvSpPr>
        <p:spPr>
          <a:xfrm>
            <a:off x="548640" y="1024128"/>
            <a:ext cx="5669280" cy="1188720"/>
          </a:xfrm>
          <a:prstGeom prst="rect">
            <a:avLst/>
          </a:prstGeom>
          <a:noFill/>
        </p:spPr>
        <p:txBody>
          <a:bodyPr wrap="square" lIns="0" tIns="0" rIns="0" bIns="0" anchor="t">
            <a:spAutoFit/>
          </a:bodyPr>
          <a:lstStyle/>
          <a:p>
            <a:pPr algn="l">
              <a:lnSpc>
                <a:spcPct val="95000"/>
              </a:lnSpc>
            </a:pPr>
            <a:r>
              <a:rPr sz="2900" b="1" i="0">
                <a:solidFill>
                  <a:srgbClr val="FFFFFF"/>
                </a:solidFill>
                <a:latin typeface="Calibri"/>
              </a:rPr>
              <a:t>Análisis de Reingreso Hospitalario</a:t>
            </a:r>
          </a:p>
          <a:p>
            <a:pPr algn="l">
              <a:lnSpc>
                <a:spcPct val="95000"/>
              </a:lnSpc>
            </a:pPr>
            <a:r>
              <a:rPr sz="2900" b="1" i="0">
                <a:solidFill>
                  <a:srgbClr val="FFFFFF"/>
                </a:solidFill>
                <a:latin typeface="Calibri"/>
              </a:rPr>
              <a:t>en Pacientes Diabéticos</a:t>
            </a:r>
          </a:p>
        </p:txBody>
      </p:sp>
      <p:sp>
        <p:nvSpPr>
          <p:cNvPr id="7" name="TextBox 6"/>
          <p:cNvSpPr txBox="1"/>
          <p:nvPr/>
        </p:nvSpPr>
        <p:spPr>
          <a:xfrm>
            <a:off x="548640" y="2304288"/>
            <a:ext cx="5669280" cy="256032"/>
          </a:xfrm>
          <a:prstGeom prst="rect">
            <a:avLst/>
          </a:prstGeom>
          <a:noFill/>
        </p:spPr>
        <p:txBody>
          <a:bodyPr wrap="square" lIns="0" tIns="0" rIns="0" bIns="0" anchor="t">
            <a:spAutoFit/>
          </a:bodyPr>
          <a:lstStyle/>
          <a:p>
            <a:pPr algn="l">
              <a:lnSpc>
                <a:spcPct val="100000"/>
              </a:lnSpc>
            </a:pPr>
            <a:r>
              <a:rPr sz="1200" b="0" i="0">
                <a:solidFill>
                  <a:srgbClr val="CADCFC"/>
                </a:solidFill>
                <a:latin typeface="Calibri"/>
              </a:rPr>
              <a:t>Diabetes 130-US Hospitals for Years 1999–2008 (UCI)</a:t>
            </a:r>
          </a:p>
        </p:txBody>
      </p:sp>
      <p:sp>
        <p:nvSpPr>
          <p:cNvPr id="8" name="Rectangle 7"/>
          <p:cNvSpPr/>
          <p:nvPr/>
        </p:nvSpPr>
        <p:spPr>
          <a:xfrm>
            <a:off x="548640" y="2761488"/>
            <a:ext cx="1810512" cy="365760"/>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21792" y="2761488"/>
            <a:ext cx="1664208" cy="365760"/>
          </a:xfrm>
          <a:prstGeom prst="rect">
            <a:avLst/>
          </a:prstGeom>
          <a:noFill/>
        </p:spPr>
        <p:txBody>
          <a:bodyPr wrap="square" lIns="0" tIns="0" rIns="0" bIns="0" anchor="ctr">
            <a:spAutoFit/>
          </a:bodyPr>
          <a:lstStyle/>
          <a:p>
            <a:pPr algn="ctr">
              <a:lnSpc>
                <a:spcPct val="100000"/>
              </a:lnSpc>
            </a:pPr>
            <a:r>
              <a:rPr sz="900" b="1" i="0">
                <a:solidFill>
                  <a:srgbClr val="FFFFFF"/>
                </a:solidFill>
                <a:latin typeface="Calibri"/>
              </a:rPr>
              <a:t>101.766 encuentros</a:t>
            </a:r>
          </a:p>
        </p:txBody>
      </p:sp>
      <p:sp>
        <p:nvSpPr>
          <p:cNvPr id="10" name="Rectangle 9"/>
          <p:cNvSpPr/>
          <p:nvPr/>
        </p:nvSpPr>
        <p:spPr>
          <a:xfrm>
            <a:off x="2468880" y="2761488"/>
            <a:ext cx="1810512" cy="365760"/>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542032" y="2761488"/>
            <a:ext cx="1664208" cy="365760"/>
          </a:xfrm>
          <a:prstGeom prst="rect">
            <a:avLst/>
          </a:prstGeom>
          <a:noFill/>
        </p:spPr>
        <p:txBody>
          <a:bodyPr wrap="square" lIns="0" tIns="0" rIns="0" bIns="0" anchor="ctr">
            <a:spAutoFit/>
          </a:bodyPr>
          <a:lstStyle/>
          <a:p>
            <a:pPr algn="ctr">
              <a:lnSpc>
                <a:spcPct val="100000"/>
              </a:lnSpc>
            </a:pPr>
            <a:r>
              <a:rPr sz="900" b="1" i="0">
                <a:solidFill>
                  <a:srgbClr val="FFFFFF"/>
                </a:solidFill>
                <a:latin typeface="Calibri"/>
              </a:rPr>
              <a:t>50 variables</a:t>
            </a:r>
          </a:p>
        </p:txBody>
      </p:sp>
      <p:sp>
        <p:nvSpPr>
          <p:cNvPr id="12" name="Rectangle 11"/>
          <p:cNvSpPr/>
          <p:nvPr/>
        </p:nvSpPr>
        <p:spPr>
          <a:xfrm>
            <a:off x="4389120" y="2761488"/>
            <a:ext cx="1810512" cy="365760"/>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62272" y="2761488"/>
            <a:ext cx="1664208" cy="365760"/>
          </a:xfrm>
          <a:prstGeom prst="rect">
            <a:avLst/>
          </a:prstGeom>
          <a:noFill/>
        </p:spPr>
        <p:txBody>
          <a:bodyPr wrap="square" lIns="0" tIns="0" rIns="0" bIns="0" anchor="ctr">
            <a:spAutoFit/>
          </a:bodyPr>
          <a:lstStyle/>
          <a:p>
            <a:pPr algn="ctr">
              <a:lnSpc>
                <a:spcPct val="100000"/>
              </a:lnSpc>
            </a:pPr>
            <a:r>
              <a:rPr sz="900" b="1" i="0">
                <a:solidFill>
                  <a:srgbClr val="FFFFFF"/>
                </a:solidFill>
                <a:latin typeface="Calibri"/>
              </a:rPr>
              <a:t>reingreso &lt; 30 días</a:t>
            </a:r>
          </a:p>
        </p:txBody>
      </p:sp>
      <p:sp>
        <p:nvSpPr>
          <p:cNvPr id="14" name="TextBox 13"/>
          <p:cNvSpPr txBox="1"/>
          <p:nvPr/>
        </p:nvSpPr>
        <p:spPr>
          <a:xfrm>
            <a:off x="548640" y="3364992"/>
            <a:ext cx="5394960" cy="566928"/>
          </a:xfrm>
          <a:prstGeom prst="rect">
            <a:avLst/>
          </a:prstGeom>
          <a:noFill/>
        </p:spPr>
        <p:txBody>
          <a:bodyPr wrap="square" lIns="0" tIns="0" rIns="0" bIns="0" anchor="t">
            <a:spAutoFit/>
          </a:bodyPr>
          <a:lstStyle/>
          <a:p>
            <a:pPr algn="l">
              <a:lnSpc>
                <a:spcPct val="110000"/>
              </a:lnSpc>
            </a:pPr>
            <a:r>
              <a:rPr sz="900" b="0" i="0">
                <a:solidFill>
                  <a:srgbClr val="9FB4C7"/>
                </a:solidFill>
                <a:latin typeface="Calibri"/>
              </a:rPr>
              <a:t>Determinar los factores que más influyen en el reingreso prematuro para mejorar la gestión hospitalaria y la salud del paciente.</a:t>
            </a:r>
          </a:p>
        </p:txBody>
      </p:sp>
      <p:sp>
        <p:nvSpPr>
          <p:cNvPr id="15" name="TextBox 14"/>
          <p:cNvSpPr txBox="1"/>
          <p:nvPr/>
        </p:nvSpPr>
        <p:spPr>
          <a:xfrm>
            <a:off x="548640" y="4480560"/>
            <a:ext cx="5943600" cy="219456"/>
          </a:xfrm>
          <a:prstGeom prst="rect">
            <a:avLst/>
          </a:prstGeom>
          <a:noFill/>
        </p:spPr>
        <p:txBody>
          <a:bodyPr wrap="square" lIns="0" tIns="0" rIns="0" bIns="0" anchor="t">
            <a:spAutoFit/>
          </a:bodyPr>
          <a:lstStyle/>
          <a:p>
            <a:pPr algn="l">
              <a:lnSpc>
                <a:spcPct val="100000"/>
              </a:lnSpc>
            </a:pPr>
            <a:r>
              <a:rPr sz="900" b="0" i="0">
                <a:solidFill>
                  <a:srgbClr val="6E86A0"/>
                </a:solidFill>
                <a:latin typeface="Calibri"/>
              </a:rPr>
              <a:t>Grupo 1: Florencia Lucca, Carlos Lugones, Mariano Reimondez</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74904" y="182880"/>
            <a:ext cx="7315200" cy="219456"/>
          </a:xfrm>
          <a:prstGeom prst="rect">
            <a:avLst/>
          </a:prstGeom>
          <a:noFill/>
        </p:spPr>
        <p:txBody>
          <a:bodyPr wrap="square" lIns="0" tIns="0" rIns="0" bIns="0" anchor="t">
            <a:spAutoFit/>
          </a:bodyPr>
          <a:lstStyle/>
          <a:p>
            <a:pPr algn="l">
              <a:lnSpc>
                <a:spcPct val="100000"/>
              </a:lnSpc>
            </a:pPr>
            <a:r>
              <a:rPr sz="900" b="1" i="0">
                <a:solidFill>
                  <a:srgbClr val="1C7293"/>
                </a:solidFill>
                <a:latin typeface="Calibri"/>
              </a:rPr>
              <a:t>01 · EDA ESTRUCTURAL — ANTES DEL SPLIT</a:t>
            </a:r>
          </a:p>
        </p:txBody>
      </p:sp>
      <p:sp>
        <p:nvSpPr>
          <p:cNvPr id="3" name="TextBox 2"/>
          <p:cNvSpPr txBox="1"/>
          <p:nvPr/>
        </p:nvSpPr>
        <p:spPr>
          <a:xfrm>
            <a:off x="374904" y="365760"/>
            <a:ext cx="8366760" cy="457200"/>
          </a:xfrm>
          <a:prstGeom prst="rect">
            <a:avLst/>
          </a:prstGeom>
          <a:noFill/>
        </p:spPr>
        <p:txBody>
          <a:bodyPr wrap="square" lIns="0" tIns="0" rIns="0" bIns="0" anchor="t">
            <a:spAutoFit/>
          </a:bodyPr>
          <a:lstStyle/>
          <a:p>
            <a:pPr algn="l">
              <a:lnSpc>
                <a:spcPct val="100000"/>
              </a:lnSpc>
            </a:pPr>
            <a:r>
              <a:rPr sz="2000" b="1" i="0">
                <a:solidFill>
                  <a:srgbClr val="0B3D5C"/>
                </a:solidFill>
                <a:latin typeface="Calibri"/>
              </a:rPr>
              <a:t>Lo que hay que saber para poder partir el dataset</a:t>
            </a:r>
          </a:p>
        </p:txBody>
      </p:sp>
      <p:sp>
        <p:nvSpPr>
          <p:cNvPr id="4" name="TextBox 3"/>
          <p:cNvSpPr txBox="1"/>
          <p:nvPr/>
        </p:nvSpPr>
        <p:spPr>
          <a:xfrm>
            <a:off x="347472" y="4846320"/>
            <a:ext cx="5486400" cy="201168"/>
          </a:xfrm>
          <a:prstGeom prst="rect">
            <a:avLst/>
          </a:prstGeom>
          <a:noFill/>
        </p:spPr>
        <p:txBody>
          <a:bodyPr wrap="square" lIns="0" tIns="0" rIns="0" bIns="0" anchor="t">
            <a:spAutoFit/>
          </a:bodyPr>
          <a:lstStyle/>
          <a:p>
            <a:pPr algn="l">
              <a:lnSpc>
                <a:spcPct val="100000"/>
              </a:lnSpc>
            </a:pPr>
            <a:r>
              <a:rPr sz="700" b="0" i="0">
                <a:solidFill>
                  <a:srgbClr val="AAB4BD"/>
                </a:solidFill>
                <a:latin typeface="Calibri"/>
              </a:rPr>
              <a:t>Diabetes 130-US Hospitals — Reingreso Hospitalario</a:t>
            </a:r>
          </a:p>
        </p:txBody>
      </p:sp>
      <p:sp>
        <p:nvSpPr>
          <p:cNvPr id="5" name="TextBox 4"/>
          <p:cNvSpPr txBox="1"/>
          <p:nvPr/>
        </p:nvSpPr>
        <p:spPr>
          <a:xfrm>
            <a:off x="8138160" y="4846320"/>
            <a:ext cx="658368" cy="201168"/>
          </a:xfrm>
          <a:prstGeom prst="rect">
            <a:avLst/>
          </a:prstGeom>
          <a:noFill/>
        </p:spPr>
        <p:txBody>
          <a:bodyPr wrap="square" lIns="0" tIns="0" rIns="0" bIns="0" anchor="t">
            <a:spAutoFit/>
          </a:bodyPr>
          <a:lstStyle/>
          <a:p>
            <a:pPr algn="r">
              <a:lnSpc>
                <a:spcPct val="100000"/>
              </a:lnSpc>
            </a:pPr>
            <a:r>
              <a:rPr sz="700" b="0" i="0">
                <a:solidFill>
                  <a:srgbClr val="AAB4BD"/>
                </a:solidFill>
                <a:latin typeface="Calibri"/>
              </a:rPr>
              <a:t>2 / 8</a:t>
            </a:r>
          </a:p>
        </p:txBody>
      </p:sp>
      <p:sp>
        <p:nvSpPr>
          <p:cNvPr id="6" name="Rectangle 5"/>
          <p:cNvSpPr/>
          <p:nvPr/>
        </p:nvSpPr>
        <p:spPr>
          <a:xfrm>
            <a:off x="411480" y="841248"/>
            <a:ext cx="8321040" cy="603504"/>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21792" y="905256"/>
            <a:ext cx="7955279" cy="219456"/>
          </a:xfrm>
          <a:prstGeom prst="rect">
            <a:avLst/>
          </a:prstGeom>
          <a:noFill/>
        </p:spPr>
        <p:txBody>
          <a:bodyPr wrap="square" lIns="0" tIns="0" rIns="0" bIns="0" anchor="t">
            <a:spAutoFit/>
          </a:bodyPr>
          <a:lstStyle/>
          <a:p>
            <a:pPr algn="l">
              <a:lnSpc>
                <a:spcPct val="100000"/>
              </a:lnSpc>
            </a:pPr>
            <a:r>
              <a:rPr sz="1200" b="1" i="0">
                <a:solidFill>
                  <a:srgbClr val="E8A33D"/>
                </a:solidFill>
                <a:latin typeface="Calibri"/>
              </a:rPr>
              <a:t>Por qué este bloque va antes del split</a:t>
            </a:r>
          </a:p>
        </p:txBody>
      </p:sp>
      <p:sp>
        <p:nvSpPr>
          <p:cNvPr id="8" name="TextBox 7"/>
          <p:cNvSpPr txBox="1"/>
          <p:nvPr/>
        </p:nvSpPr>
        <p:spPr>
          <a:xfrm>
            <a:off x="621792" y="1133856"/>
            <a:ext cx="7955279" cy="256032"/>
          </a:xfrm>
          <a:prstGeom prst="rect">
            <a:avLst/>
          </a:prstGeom>
          <a:noFill/>
        </p:spPr>
        <p:txBody>
          <a:bodyPr wrap="square" lIns="0" tIns="0" rIns="0" bIns="0" anchor="t">
            <a:spAutoFit/>
          </a:bodyPr>
          <a:lstStyle/>
          <a:p>
            <a:pPr algn="l">
              <a:lnSpc>
                <a:spcPct val="105000"/>
              </a:lnSpc>
            </a:pPr>
            <a:r>
              <a:rPr sz="900" b="0" i="0">
                <a:solidFill>
                  <a:srgbClr val="FFFFFF"/>
                </a:solidFill>
                <a:latin typeface="Calibri"/>
              </a:rPr>
              <a:t>Son propiedades del archivo —dimensiones, tipos, % de nulos, cardinalidad, duplicados— y reglas fijas de calidad de datos. No hay ningún estadístico que alimente una decisión de modelado, y sobre todo: el split DEPENDE de este bloque.</a:t>
            </a:r>
          </a:p>
        </p:txBody>
      </p:sp>
      <p:pic>
        <p:nvPicPr>
          <p:cNvPr id="9" name="Picture 8" descr="s2_faltantes.png"/>
          <p:cNvPicPr>
            <a:picLocks noChangeAspect="1"/>
          </p:cNvPicPr>
          <p:nvPr/>
        </p:nvPicPr>
        <p:blipFill>
          <a:blip r:embed="rId2"/>
          <a:stretch>
            <a:fillRect/>
          </a:stretch>
        </p:blipFill>
        <p:spPr>
          <a:xfrm>
            <a:off x="411480" y="1554480"/>
            <a:ext cx="4023360" cy="1828800"/>
          </a:xfrm>
          <a:prstGeom prst="rect">
            <a:avLst/>
          </a:prstGeom>
        </p:spPr>
      </p:pic>
      <p:pic>
        <p:nvPicPr>
          <p:cNvPr id="10" name="Picture 9" descr="s2_cardinalidad.png"/>
          <p:cNvPicPr>
            <a:picLocks noChangeAspect="1"/>
          </p:cNvPicPr>
          <p:nvPr/>
        </p:nvPicPr>
        <p:blipFill>
          <a:blip r:embed="rId3"/>
          <a:stretch>
            <a:fillRect/>
          </a:stretch>
        </p:blipFill>
        <p:spPr>
          <a:xfrm>
            <a:off x="4709160" y="1554480"/>
            <a:ext cx="4023360" cy="1828800"/>
          </a:xfrm>
          <a:prstGeom prst="rect">
            <a:avLst/>
          </a:prstGeom>
        </p:spPr>
      </p:pic>
      <p:sp>
        <p:nvSpPr>
          <p:cNvPr id="11" name="Rectangle 10"/>
          <p:cNvSpPr/>
          <p:nvPr/>
        </p:nvSpPr>
        <p:spPr>
          <a:xfrm>
            <a:off x="411480" y="3493008"/>
            <a:ext cx="2779776" cy="12252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9496" y="3584448"/>
            <a:ext cx="2523744" cy="237744"/>
          </a:xfrm>
          <a:prstGeom prst="rect">
            <a:avLst/>
          </a:prstGeom>
          <a:noFill/>
        </p:spPr>
        <p:txBody>
          <a:bodyPr wrap="square" lIns="0" tIns="0" rIns="0" bIns="0" anchor="t">
            <a:spAutoFit/>
          </a:bodyPr>
          <a:lstStyle/>
          <a:p>
            <a:pPr algn="l">
              <a:lnSpc>
                <a:spcPct val="100000"/>
              </a:lnSpc>
            </a:pPr>
            <a:r>
              <a:rPr sz="1000" b="1" i="0">
                <a:solidFill>
                  <a:srgbClr val="0B3D5C"/>
                </a:solidFill>
                <a:latin typeface="Calibri"/>
              </a:rPr>
              <a:t>Faltantes y su mecanismo</a:t>
            </a:r>
          </a:p>
        </p:txBody>
      </p:sp>
      <p:sp>
        <p:nvSpPr>
          <p:cNvPr id="13" name="TextBox 12"/>
          <p:cNvSpPr txBox="1"/>
          <p:nvPr/>
        </p:nvSpPr>
        <p:spPr>
          <a:xfrm>
            <a:off x="539496" y="3840480"/>
            <a:ext cx="2523744" cy="786384"/>
          </a:xfrm>
          <a:prstGeom prst="rect">
            <a:avLst/>
          </a:prstGeom>
          <a:noFill/>
        </p:spPr>
        <p:txBody>
          <a:bodyPr wrap="square" lIns="0" tIns="0" rIns="0" bIns="0" anchor="t">
            <a:spAutoFit/>
          </a:bodyPr>
          <a:lstStyle/>
          <a:p>
            <a:pPr algn="l">
              <a:lnSpc>
                <a:spcPct val="108000"/>
              </a:lnSpc>
            </a:pPr>
            <a:r>
              <a:rPr sz="800" b="0" i="0">
                <a:solidFill>
                  <a:srgbClr val="24292E"/>
                </a:solidFill>
                <a:latin typeface="Calibri"/>
              </a:rPr>
              <a:t>weight 96.9 % (MNAR/estructural), max_glu_serum y A1Cresult 94.8 % y 83.3 % (MNAR), medical_specialty y payer_code (MAR), race 2.2 % (MCAR aprox.).</a:t>
            </a:r>
          </a:p>
        </p:txBody>
      </p:sp>
      <p:sp>
        <p:nvSpPr>
          <p:cNvPr id="14" name="Rectangle 13"/>
          <p:cNvSpPr/>
          <p:nvPr/>
        </p:nvSpPr>
        <p:spPr>
          <a:xfrm>
            <a:off x="3182112" y="3493008"/>
            <a:ext cx="2779776" cy="12252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310128" y="3584448"/>
            <a:ext cx="2523744" cy="237744"/>
          </a:xfrm>
          <a:prstGeom prst="rect">
            <a:avLst/>
          </a:prstGeom>
          <a:noFill/>
        </p:spPr>
        <p:txBody>
          <a:bodyPr wrap="square" lIns="0" tIns="0" rIns="0" bIns="0" anchor="t">
            <a:spAutoFit/>
          </a:bodyPr>
          <a:lstStyle/>
          <a:p>
            <a:pPr algn="l">
              <a:lnSpc>
                <a:spcPct val="100000"/>
              </a:lnSpc>
            </a:pPr>
            <a:r>
              <a:rPr sz="1000" b="1" i="0">
                <a:solidFill>
                  <a:srgbClr val="0B3D5C"/>
                </a:solidFill>
                <a:latin typeface="Calibri"/>
              </a:rPr>
              <a:t>Cardinalidad → encoding</a:t>
            </a:r>
          </a:p>
        </p:txBody>
      </p:sp>
      <p:sp>
        <p:nvSpPr>
          <p:cNvPr id="16" name="TextBox 15"/>
          <p:cNvSpPr txBox="1"/>
          <p:nvPr/>
        </p:nvSpPr>
        <p:spPr>
          <a:xfrm>
            <a:off x="3310128" y="3840480"/>
            <a:ext cx="2523744" cy="525785"/>
          </a:xfrm>
          <a:prstGeom prst="rect">
            <a:avLst/>
          </a:prstGeom>
          <a:noFill/>
        </p:spPr>
        <p:txBody>
          <a:bodyPr wrap="square" lIns="0" tIns="0" rIns="0" bIns="0" anchor="t">
            <a:spAutoFit/>
          </a:bodyPr>
          <a:lstStyle/>
          <a:p>
            <a:pPr algn="l">
              <a:lnSpc>
                <a:spcPct val="108000"/>
              </a:lnSpc>
            </a:pPr>
            <a:r>
              <a:rPr sz="800" b="0" i="0" dirty="0" err="1">
                <a:solidFill>
                  <a:srgbClr val="24292E"/>
                </a:solidFill>
                <a:latin typeface="Calibri"/>
              </a:rPr>
              <a:t>medical_specialty</a:t>
            </a:r>
            <a:r>
              <a:rPr sz="800" b="0" i="0" dirty="0">
                <a:solidFill>
                  <a:srgbClr val="24292E"/>
                </a:solidFill>
                <a:latin typeface="Calibri"/>
              </a:rPr>
              <a:t> (70), </a:t>
            </a:r>
            <a:r>
              <a:rPr sz="800" b="0" i="0" dirty="0" err="1">
                <a:solidFill>
                  <a:srgbClr val="24292E"/>
                </a:solidFill>
                <a:latin typeface="Calibri"/>
              </a:rPr>
              <a:t>discharge_disposition_id</a:t>
            </a:r>
            <a:r>
              <a:rPr sz="800" b="0" i="0" dirty="0">
                <a:solidFill>
                  <a:srgbClr val="24292E"/>
                </a:solidFill>
                <a:latin typeface="Calibri"/>
              </a:rPr>
              <a:t> (26), </a:t>
            </a:r>
            <a:r>
              <a:rPr sz="800" b="0" i="0" dirty="0" err="1">
                <a:solidFill>
                  <a:srgbClr val="24292E"/>
                </a:solidFill>
                <a:latin typeface="Calibri"/>
              </a:rPr>
              <a:t>payer_code</a:t>
            </a:r>
            <a:r>
              <a:rPr sz="800" b="0" i="0" dirty="0">
                <a:solidFill>
                  <a:srgbClr val="24292E"/>
                </a:solidFill>
                <a:latin typeface="Calibri"/>
              </a:rPr>
              <a:t> (18) y </a:t>
            </a:r>
            <a:r>
              <a:rPr sz="800" b="0" i="0" dirty="0" err="1">
                <a:solidFill>
                  <a:srgbClr val="24292E"/>
                </a:solidFill>
                <a:latin typeface="Calibri"/>
              </a:rPr>
              <a:t>admission_source_id</a:t>
            </a:r>
            <a:r>
              <a:rPr sz="800" b="0" i="0" dirty="0">
                <a:solidFill>
                  <a:srgbClr val="24292E"/>
                </a:solidFill>
                <a:latin typeface="Calibri"/>
              </a:rPr>
              <a:t> (16) </a:t>
            </a:r>
            <a:r>
              <a:rPr sz="800" b="0" i="0" dirty="0" err="1">
                <a:solidFill>
                  <a:srgbClr val="24292E"/>
                </a:solidFill>
                <a:latin typeface="Calibri"/>
              </a:rPr>
              <a:t>concentran</a:t>
            </a:r>
            <a:r>
              <a:rPr sz="800" b="0" i="0" dirty="0">
                <a:solidFill>
                  <a:srgbClr val="24292E"/>
                </a:solidFill>
                <a:latin typeface="Calibri"/>
              </a:rPr>
              <a:t> la </a:t>
            </a:r>
            <a:r>
              <a:rPr sz="800" b="0" i="0" dirty="0" err="1">
                <a:solidFill>
                  <a:srgbClr val="24292E"/>
                </a:solidFill>
                <a:latin typeface="Calibri"/>
              </a:rPr>
              <a:t>cardinalidad</a:t>
            </a:r>
            <a:r>
              <a:rPr sz="800" b="0" i="0" dirty="0">
                <a:solidFill>
                  <a:srgbClr val="24292E"/>
                </a:solidFill>
                <a:latin typeface="Calibri"/>
              </a:rPr>
              <a:t> </a:t>
            </a:r>
            <a:r>
              <a:rPr sz="800" b="0" i="0" dirty="0" err="1">
                <a:solidFill>
                  <a:srgbClr val="24292E"/>
                </a:solidFill>
                <a:latin typeface="Calibri"/>
              </a:rPr>
              <a:t>alta</a:t>
            </a:r>
            <a:r>
              <a:rPr sz="800" b="0" i="0" dirty="0">
                <a:solidFill>
                  <a:srgbClr val="24292E"/>
                </a:solidFill>
                <a:latin typeface="Calibri"/>
              </a:rPr>
              <a:t>: es el </a:t>
            </a:r>
            <a:r>
              <a:rPr sz="800" b="0" i="0" dirty="0" err="1">
                <a:solidFill>
                  <a:srgbClr val="24292E"/>
                </a:solidFill>
                <a:latin typeface="Calibri"/>
              </a:rPr>
              <a:t>insumo</a:t>
            </a:r>
            <a:r>
              <a:rPr sz="800" b="0" i="0" dirty="0">
                <a:solidFill>
                  <a:srgbClr val="24292E"/>
                </a:solidFill>
                <a:latin typeface="Calibri"/>
              </a:rPr>
              <a:t> para </a:t>
            </a:r>
            <a:r>
              <a:rPr sz="800" b="0" i="0" dirty="0" err="1">
                <a:solidFill>
                  <a:srgbClr val="24292E"/>
                </a:solidFill>
                <a:latin typeface="Calibri"/>
              </a:rPr>
              <a:t>decidir</a:t>
            </a:r>
            <a:r>
              <a:rPr sz="800" b="0" i="0" dirty="0">
                <a:solidFill>
                  <a:srgbClr val="24292E"/>
                </a:solidFill>
                <a:latin typeface="Calibri"/>
              </a:rPr>
              <a:t> one-hot vs. target encoding (slide 7)</a:t>
            </a:r>
            <a:r>
              <a:rPr lang="en-US" sz="800" b="0" i="0" dirty="0">
                <a:solidFill>
                  <a:srgbClr val="24292E"/>
                </a:solidFill>
                <a:latin typeface="Calibri"/>
              </a:rPr>
              <a:t> </a:t>
            </a:r>
            <a:r>
              <a:rPr lang="en-US" sz="800" b="0" i="0" dirty="0" err="1">
                <a:solidFill>
                  <a:srgbClr val="24292E"/>
                </a:solidFill>
                <a:latin typeface="Calibri"/>
              </a:rPr>
              <a:t>posteriormente</a:t>
            </a:r>
            <a:r>
              <a:rPr lang="en-US" sz="800" b="0" i="0" dirty="0">
                <a:solidFill>
                  <a:srgbClr val="24292E"/>
                </a:solidFill>
                <a:latin typeface="Calibri"/>
              </a:rPr>
              <a:t>.</a:t>
            </a:r>
            <a:endParaRPr sz="800" b="0" i="0" dirty="0">
              <a:solidFill>
                <a:srgbClr val="24292E"/>
              </a:solidFill>
              <a:latin typeface="Calibri"/>
            </a:endParaRPr>
          </a:p>
        </p:txBody>
      </p:sp>
      <p:sp>
        <p:nvSpPr>
          <p:cNvPr id="17" name="Rectangle 16"/>
          <p:cNvSpPr/>
          <p:nvPr/>
        </p:nvSpPr>
        <p:spPr>
          <a:xfrm>
            <a:off x="5952744" y="3493008"/>
            <a:ext cx="2779776" cy="12252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080759" y="3584448"/>
            <a:ext cx="2523744" cy="237744"/>
          </a:xfrm>
          <a:prstGeom prst="rect">
            <a:avLst/>
          </a:prstGeom>
          <a:noFill/>
        </p:spPr>
        <p:txBody>
          <a:bodyPr wrap="square" lIns="0" tIns="0" rIns="0" bIns="0" anchor="t">
            <a:spAutoFit/>
          </a:bodyPr>
          <a:lstStyle/>
          <a:p>
            <a:pPr algn="l">
              <a:lnSpc>
                <a:spcPct val="100000"/>
              </a:lnSpc>
            </a:pPr>
            <a:r>
              <a:rPr sz="1000" b="1" i="0">
                <a:solidFill>
                  <a:srgbClr val="0B3D5C"/>
                </a:solidFill>
                <a:latin typeface="Calibri"/>
              </a:rPr>
              <a:t>Duplicados y estructura de IDs</a:t>
            </a:r>
          </a:p>
        </p:txBody>
      </p:sp>
      <p:sp>
        <p:nvSpPr>
          <p:cNvPr id="19" name="TextBox 18"/>
          <p:cNvSpPr txBox="1"/>
          <p:nvPr/>
        </p:nvSpPr>
        <p:spPr>
          <a:xfrm>
            <a:off x="6080759" y="3840480"/>
            <a:ext cx="2523744" cy="786384"/>
          </a:xfrm>
          <a:prstGeom prst="rect">
            <a:avLst/>
          </a:prstGeom>
          <a:noFill/>
        </p:spPr>
        <p:txBody>
          <a:bodyPr wrap="square" lIns="0" tIns="0" rIns="0" bIns="0" anchor="t">
            <a:spAutoFit/>
          </a:bodyPr>
          <a:lstStyle/>
          <a:p>
            <a:pPr algn="l">
              <a:lnSpc>
                <a:spcPct val="108000"/>
              </a:lnSpc>
            </a:pPr>
            <a:r>
              <a:rPr sz="800" b="0" i="0">
                <a:solidFill>
                  <a:srgbClr val="24292E"/>
                </a:solidFill>
                <a:latin typeface="Calibri"/>
              </a:rPr>
              <a:t>0 encuentros duplicados, pero 71.518 pacientes en 101.763 filas. Ese hallazgo es el que OBLIGA a un split agrupado por paciente.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74904" y="182880"/>
            <a:ext cx="7315200" cy="219456"/>
          </a:xfrm>
          <a:prstGeom prst="rect">
            <a:avLst/>
          </a:prstGeom>
          <a:noFill/>
        </p:spPr>
        <p:txBody>
          <a:bodyPr wrap="square" lIns="0" tIns="0" rIns="0" bIns="0" anchor="t">
            <a:spAutoFit/>
          </a:bodyPr>
          <a:lstStyle/>
          <a:p>
            <a:pPr algn="l">
              <a:lnSpc>
                <a:spcPct val="100000"/>
              </a:lnSpc>
            </a:pPr>
            <a:r>
              <a:rPr sz="900" b="1" i="0">
                <a:solidFill>
                  <a:srgbClr val="1C7293"/>
                </a:solidFill>
                <a:latin typeface="Calibri"/>
              </a:rPr>
              <a:t>02 · PROBLEMA DE ML Y SPLIT</a:t>
            </a:r>
          </a:p>
        </p:txBody>
      </p:sp>
      <p:sp>
        <p:nvSpPr>
          <p:cNvPr id="3" name="TextBox 2"/>
          <p:cNvSpPr txBox="1"/>
          <p:nvPr/>
        </p:nvSpPr>
        <p:spPr>
          <a:xfrm>
            <a:off x="374904" y="365760"/>
            <a:ext cx="8366760" cy="457200"/>
          </a:xfrm>
          <a:prstGeom prst="rect">
            <a:avLst/>
          </a:prstGeom>
          <a:noFill/>
        </p:spPr>
        <p:txBody>
          <a:bodyPr wrap="square" lIns="0" tIns="0" rIns="0" bIns="0" anchor="t">
            <a:spAutoFit/>
          </a:bodyPr>
          <a:lstStyle/>
          <a:p>
            <a:pPr algn="l">
              <a:lnSpc>
                <a:spcPct val="100000"/>
              </a:lnSpc>
            </a:pPr>
            <a:r>
              <a:rPr sz="2000" b="1" i="0">
                <a:solidFill>
                  <a:srgbClr val="0B3D5C"/>
                </a:solidFill>
                <a:latin typeface="Calibri"/>
              </a:rPr>
              <a:t>Target binario y split agrupado por paciente</a:t>
            </a:r>
          </a:p>
        </p:txBody>
      </p:sp>
      <p:sp>
        <p:nvSpPr>
          <p:cNvPr id="4" name="TextBox 3"/>
          <p:cNvSpPr txBox="1"/>
          <p:nvPr/>
        </p:nvSpPr>
        <p:spPr>
          <a:xfrm>
            <a:off x="347472" y="4846320"/>
            <a:ext cx="5486400" cy="201168"/>
          </a:xfrm>
          <a:prstGeom prst="rect">
            <a:avLst/>
          </a:prstGeom>
          <a:noFill/>
        </p:spPr>
        <p:txBody>
          <a:bodyPr wrap="square" lIns="0" tIns="0" rIns="0" bIns="0" anchor="t">
            <a:spAutoFit/>
          </a:bodyPr>
          <a:lstStyle/>
          <a:p>
            <a:pPr algn="l">
              <a:lnSpc>
                <a:spcPct val="100000"/>
              </a:lnSpc>
            </a:pPr>
            <a:r>
              <a:rPr sz="700" b="0" i="0">
                <a:solidFill>
                  <a:srgbClr val="AAB4BD"/>
                </a:solidFill>
                <a:latin typeface="Calibri"/>
              </a:rPr>
              <a:t>Diabetes 130-US Hospitals — Reingreso Hospitalario</a:t>
            </a:r>
          </a:p>
        </p:txBody>
      </p:sp>
      <p:sp>
        <p:nvSpPr>
          <p:cNvPr id="5" name="TextBox 4"/>
          <p:cNvSpPr txBox="1"/>
          <p:nvPr/>
        </p:nvSpPr>
        <p:spPr>
          <a:xfrm>
            <a:off x="8138160" y="4846320"/>
            <a:ext cx="658368" cy="201168"/>
          </a:xfrm>
          <a:prstGeom prst="rect">
            <a:avLst/>
          </a:prstGeom>
          <a:noFill/>
        </p:spPr>
        <p:txBody>
          <a:bodyPr wrap="square" lIns="0" tIns="0" rIns="0" bIns="0" anchor="t">
            <a:spAutoFit/>
          </a:bodyPr>
          <a:lstStyle/>
          <a:p>
            <a:pPr algn="r">
              <a:lnSpc>
                <a:spcPct val="100000"/>
              </a:lnSpc>
            </a:pPr>
            <a:r>
              <a:rPr sz="700" b="0" i="0">
                <a:solidFill>
                  <a:srgbClr val="AAB4BD"/>
                </a:solidFill>
                <a:latin typeface="Calibri"/>
              </a:rPr>
              <a:t>3 / 8</a:t>
            </a:r>
          </a:p>
        </p:txBody>
      </p:sp>
      <p:sp>
        <p:nvSpPr>
          <p:cNvPr id="6" name="Rectangle 5"/>
          <p:cNvSpPr/>
          <p:nvPr/>
        </p:nvSpPr>
        <p:spPr>
          <a:xfrm>
            <a:off x="411480" y="841248"/>
            <a:ext cx="8321040" cy="603504"/>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21792" y="905256"/>
            <a:ext cx="7955279" cy="219456"/>
          </a:xfrm>
          <a:prstGeom prst="rect">
            <a:avLst/>
          </a:prstGeom>
          <a:noFill/>
        </p:spPr>
        <p:txBody>
          <a:bodyPr wrap="square" lIns="0" tIns="0" rIns="0" bIns="0" anchor="t">
            <a:spAutoFit/>
          </a:bodyPr>
          <a:lstStyle/>
          <a:p>
            <a:pPr algn="l">
              <a:lnSpc>
                <a:spcPct val="100000"/>
              </a:lnSpc>
            </a:pPr>
            <a:r>
              <a:rPr sz="1200" b="1" i="0">
                <a:solidFill>
                  <a:srgbClr val="E8A33D"/>
                </a:solidFill>
                <a:latin typeface="Calibri"/>
              </a:rPr>
              <a:t>Variable objetivo</a:t>
            </a:r>
          </a:p>
        </p:txBody>
      </p:sp>
      <p:sp>
        <p:nvSpPr>
          <p:cNvPr id="8" name="TextBox 7"/>
          <p:cNvSpPr txBox="1"/>
          <p:nvPr/>
        </p:nvSpPr>
        <p:spPr>
          <a:xfrm>
            <a:off x="621792" y="1133856"/>
            <a:ext cx="7955279" cy="256032"/>
          </a:xfrm>
          <a:prstGeom prst="rect">
            <a:avLst/>
          </a:prstGeom>
          <a:noFill/>
        </p:spPr>
        <p:txBody>
          <a:bodyPr wrap="square" lIns="0" tIns="0" rIns="0" bIns="0" anchor="t">
            <a:spAutoFit/>
          </a:bodyPr>
          <a:lstStyle/>
          <a:p>
            <a:pPr algn="l">
              <a:lnSpc>
                <a:spcPct val="105000"/>
              </a:lnSpc>
            </a:pPr>
            <a:r>
              <a:rPr sz="900" b="0" i="0">
                <a:solidFill>
                  <a:srgbClr val="FFFFFF"/>
                </a:solidFill>
                <a:latin typeface="Calibri"/>
              </a:rPr>
              <a:t>readmitted_temprano — binaria: 1 si el paciente reingresó antes de 30 días, 0 en el resto (no reingresó o lo hizo después). Clasificación supervisada binaria; se excluyen los identificadores sin valor predictivo.</a:t>
            </a:r>
          </a:p>
        </p:txBody>
      </p:sp>
      <p:pic>
        <p:nvPicPr>
          <p:cNvPr id="9" name="Picture 8" descr="s3_target.png"/>
          <p:cNvPicPr>
            <a:picLocks noChangeAspect="1"/>
          </p:cNvPicPr>
          <p:nvPr/>
        </p:nvPicPr>
        <p:blipFill>
          <a:blip r:embed="rId2"/>
          <a:stretch>
            <a:fillRect/>
          </a:stretch>
        </p:blipFill>
        <p:spPr>
          <a:xfrm>
            <a:off x="411480" y="1554480"/>
            <a:ext cx="4023360" cy="1828800"/>
          </a:xfrm>
          <a:prstGeom prst="rect">
            <a:avLst/>
          </a:prstGeom>
        </p:spPr>
      </p:pic>
      <p:pic>
        <p:nvPicPr>
          <p:cNvPr id="10" name="Picture 9" descr="s3_split.png"/>
          <p:cNvPicPr>
            <a:picLocks noChangeAspect="1"/>
          </p:cNvPicPr>
          <p:nvPr/>
        </p:nvPicPr>
        <p:blipFill>
          <a:blip r:embed="rId3"/>
          <a:stretch>
            <a:fillRect/>
          </a:stretch>
        </p:blipFill>
        <p:spPr>
          <a:xfrm>
            <a:off x="4709162" y="1709928"/>
            <a:ext cx="4023360" cy="1828800"/>
          </a:xfrm>
          <a:prstGeom prst="rect">
            <a:avLst/>
          </a:prstGeom>
        </p:spPr>
      </p:pic>
      <p:sp>
        <p:nvSpPr>
          <p:cNvPr id="11" name="Rectangle 10"/>
          <p:cNvSpPr/>
          <p:nvPr/>
        </p:nvSpPr>
        <p:spPr>
          <a:xfrm>
            <a:off x="411480" y="3493008"/>
            <a:ext cx="2779776" cy="12252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9496" y="3584448"/>
            <a:ext cx="2523744" cy="237744"/>
          </a:xfrm>
          <a:prstGeom prst="rect">
            <a:avLst/>
          </a:prstGeom>
          <a:noFill/>
        </p:spPr>
        <p:txBody>
          <a:bodyPr wrap="square" lIns="0" tIns="0" rIns="0" bIns="0" anchor="t">
            <a:spAutoFit/>
          </a:bodyPr>
          <a:lstStyle/>
          <a:p>
            <a:pPr algn="l">
              <a:lnSpc>
                <a:spcPct val="100000"/>
              </a:lnSpc>
            </a:pPr>
            <a:r>
              <a:rPr sz="1000" b="1" i="0">
                <a:solidFill>
                  <a:srgbClr val="0B3D5C"/>
                </a:solidFill>
                <a:latin typeface="Calibri"/>
              </a:rPr>
              <a:t>Por qué agrupado por paciente</a:t>
            </a:r>
          </a:p>
        </p:txBody>
      </p:sp>
      <p:sp>
        <p:nvSpPr>
          <p:cNvPr id="13" name="TextBox 12"/>
          <p:cNvSpPr txBox="1"/>
          <p:nvPr/>
        </p:nvSpPr>
        <p:spPr>
          <a:xfrm>
            <a:off x="539496" y="3840480"/>
            <a:ext cx="2523744" cy="392800"/>
          </a:xfrm>
          <a:prstGeom prst="rect">
            <a:avLst/>
          </a:prstGeom>
          <a:noFill/>
        </p:spPr>
        <p:txBody>
          <a:bodyPr wrap="square" lIns="0" tIns="0" rIns="0" bIns="0" anchor="t">
            <a:spAutoFit/>
          </a:bodyPr>
          <a:lstStyle/>
          <a:p>
            <a:pPr algn="l">
              <a:lnSpc>
                <a:spcPct val="108000"/>
              </a:lnSpc>
            </a:pPr>
            <a:r>
              <a:rPr sz="800" b="0" i="0" dirty="0">
                <a:solidFill>
                  <a:srgbClr val="24292E"/>
                </a:solidFill>
                <a:latin typeface="Calibri"/>
              </a:rPr>
              <a:t>Un </a:t>
            </a:r>
            <a:r>
              <a:rPr sz="800" b="0" i="0" dirty="0" err="1">
                <a:solidFill>
                  <a:srgbClr val="24292E"/>
                </a:solidFill>
                <a:latin typeface="Calibri"/>
              </a:rPr>
              <a:t>mismo</a:t>
            </a:r>
            <a:r>
              <a:rPr sz="800" b="0" i="0" dirty="0">
                <a:solidFill>
                  <a:srgbClr val="24292E"/>
                </a:solidFill>
                <a:latin typeface="Calibri"/>
              </a:rPr>
              <a:t> </a:t>
            </a:r>
            <a:r>
              <a:rPr sz="800" b="0" i="0" dirty="0" err="1">
                <a:solidFill>
                  <a:srgbClr val="24292E"/>
                </a:solidFill>
                <a:latin typeface="Calibri"/>
              </a:rPr>
              <a:t>patient_nbr</a:t>
            </a:r>
            <a:r>
              <a:rPr sz="800" b="0" i="0" dirty="0">
                <a:solidFill>
                  <a:srgbClr val="24292E"/>
                </a:solidFill>
                <a:latin typeface="Calibri"/>
              </a:rPr>
              <a:t> </a:t>
            </a:r>
            <a:r>
              <a:rPr sz="800" b="0" i="0" dirty="0" err="1">
                <a:solidFill>
                  <a:srgbClr val="24292E"/>
                </a:solidFill>
                <a:latin typeface="Calibri"/>
              </a:rPr>
              <a:t>tiene</a:t>
            </a:r>
            <a:r>
              <a:rPr sz="800" b="0" i="0" dirty="0">
                <a:solidFill>
                  <a:srgbClr val="24292E"/>
                </a:solidFill>
                <a:latin typeface="Calibri"/>
              </a:rPr>
              <a:t> </a:t>
            </a:r>
            <a:r>
              <a:rPr sz="800" b="0" i="0" dirty="0" err="1">
                <a:solidFill>
                  <a:srgbClr val="24292E"/>
                </a:solidFill>
                <a:latin typeface="Calibri"/>
              </a:rPr>
              <a:t>varios</a:t>
            </a:r>
            <a:r>
              <a:rPr sz="800" b="0" i="0" dirty="0">
                <a:solidFill>
                  <a:srgbClr val="24292E"/>
                </a:solidFill>
                <a:latin typeface="Calibri"/>
              </a:rPr>
              <a:t> </a:t>
            </a:r>
            <a:r>
              <a:rPr lang="en-US" sz="800" dirty="0" err="1">
                <a:solidFill>
                  <a:srgbClr val="24292E"/>
                </a:solidFill>
                <a:latin typeface="Calibri"/>
              </a:rPr>
              <a:t>internaciones</a:t>
            </a:r>
            <a:r>
              <a:rPr sz="800" b="0" i="0" dirty="0">
                <a:solidFill>
                  <a:srgbClr val="24292E"/>
                </a:solidFill>
                <a:latin typeface="Calibri"/>
              </a:rPr>
              <a:t>. Con un split </a:t>
            </a:r>
            <a:r>
              <a:rPr sz="800" b="0" i="0" dirty="0" err="1">
                <a:solidFill>
                  <a:srgbClr val="24292E"/>
                </a:solidFill>
                <a:latin typeface="Calibri"/>
              </a:rPr>
              <a:t>por</a:t>
            </a:r>
            <a:r>
              <a:rPr sz="800" b="0" i="0" dirty="0">
                <a:solidFill>
                  <a:srgbClr val="24292E"/>
                </a:solidFill>
                <a:latin typeface="Calibri"/>
              </a:rPr>
              <a:t> fila, el </a:t>
            </a:r>
            <a:r>
              <a:rPr sz="800" b="0" i="0" dirty="0" err="1">
                <a:solidFill>
                  <a:srgbClr val="24292E"/>
                </a:solidFill>
                <a:latin typeface="Calibri"/>
              </a:rPr>
              <a:t>modelo</a:t>
            </a:r>
            <a:r>
              <a:rPr sz="800" b="0" i="0" dirty="0">
                <a:solidFill>
                  <a:srgbClr val="24292E"/>
                </a:solidFill>
                <a:latin typeface="Calibri"/>
              </a:rPr>
              <a:t> </a:t>
            </a:r>
            <a:r>
              <a:rPr sz="800" b="0" i="0" dirty="0" err="1">
                <a:solidFill>
                  <a:srgbClr val="24292E"/>
                </a:solidFill>
                <a:latin typeface="Calibri"/>
              </a:rPr>
              <a:t>podría</a:t>
            </a:r>
            <a:r>
              <a:rPr sz="800" b="0" i="0" dirty="0">
                <a:solidFill>
                  <a:srgbClr val="24292E"/>
                </a:solidFill>
                <a:latin typeface="Calibri"/>
              </a:rPr>
              <a:t> </a:t>
            </a:r>
            <a:r>
              <a:rPr sz="800" b="0" i="0" dirty="0" err="1">
                <a:solidFill>
                  <a:srgbClr val="24292E"/>
                </a:solidFill>
                <a:latin typeface="Calibri"/>
              </a:rPr>
              <a:t>aprender</a:t>
            </a:r>
            <a:r>
              <a:rPr sz="800" b="0" i="0" dirty="0">
                <a:solidFill>
                  <a:srgbClr val="24292E"/>
                </a:solidFill>
                <a:latin typeface="Calibri"/>
              </a:rPr>
              <a:t> a un </a:t>
            </a:r>
            <a:r>
              <a:rPr sz="800" b="0" i="0" dirty="0" err="1">
                <a:solidFill>
                  <a:srgbClr val="24292E"/>
                </a:solidFill>
                <a:latin typeface="Calibri"/>
              </a:rPr>
              <a:t>paciente</a:t>
            </a:r>
            <a:r>
              <a:rPr sz="800" b="0" i="0" dirty="0">
                <a:solidFill>
                  <a:srgbClr val="24292E"/>
                </a:solidFill>
                <a:latin typeface="Calibri"/>
              </a:rPr>
              <a:t> </a:t>
            </a:r>
            <a:r>
              <a:rPr sz="800" b="0" i="0" dirty="0" err="1">
                <a:solidFill>
                  <a:srgbClr val="24292E"/>
                </a:solidFill>
                <a:latin typeface="Calibri"/>
              </a:rPr>
              <a:t>en</a:t>
            </a:r>
            <a:r>
              <a:rPr sz="800" b="0" i="0" dirty="0">
                <a:solidFill>
                  <a:srgbClr val="24292E"/>
                </a:solidFill>
                <a:latin typeface="Calibri"/>
              </a:rPr>
              <a:t> train y </a:t>
            </a:r>
            <a:r>
              <a:rPr sz="800" b="0" i="0" dirty="0" err="1">
                <a:solidFill>
                  <a:srgbClr val="24292E"/>
                </a:solidFill>
                <a:latin typeface="Calibri"/>
              </a:rPr>
              <a:t>reconocerlo</a:t>
            </a:r>
            <a:r>
              <a:rPr sz="800" b="0" i="0" dirty="0">
                <a:solidFill>
                  <a:srgbClr val="24292E"/>
                </a:solidFill>
                <a:latin typeface="Calibri"/>
              </a:rPr>
              <a:t> </a:t>
            </a:r>
            <a:r>
              <a:rPr sz="800" b="0" i="0" dirty="0" err="1">
                <a:solidFill>
                  <a:srgbClr val="24292E"/>
                </a:solidFill>
                <a:latin typeface="Calibri"/>
              </a:rPr>
              <a:t>en</a:t>
            </a:r>
            <a:r>
              <a:rPr sz="800" b="0" i="0" dirty="0">
                <a:solidFill>
                  <a:srgbClr val="24292E"/>
                </a:solidFill>
                <a:latin typeface="Calibri"/>
              </a:rPr>
              <a:t> test: </a:t>
            </a:r>
            <a:r>
              <a:rPr sz="800" b="0" i="0" dirty="0" err="1">
                <a:solidFill>
                  <a:srgbClr val="24292E"/>
                </a:solidFill>
                <a:latin typeface="Calibri"/>
              </a:rPr>
              <a:t>fuga</a:t>
            </a:r>
            <a:r>
              <a:rPr sz="800" b="0" i="0" dirty="0">
                <a:solidFill>
                  <a:srgbClr val="24292E"/>
                </a:solidFill>
                <a:latin typeface="Calibri"/>
              </a:rPr>
              <a:t> a </a:t>
            </a:r>
            <a:r>
              <a:rPr sz="800" b="0" i="0" dirty="0" err="1">
                <a:solidFill>
                  <a:srgbClr val="24292E"/>
                </a:solidFill>
                <a:latin typeface="Calibri"/>
              </a:rPr>
              <a:t>nivel</a:t>
            </a:r>
            <a:r>
              <a:rPr sz="800" b="0" i="0" dirty="0">
                <a:solidFill>
                  <a:srgbClr val="24292E"/>
                </a:solidFill>
                <a:latin typeface="Calibri"/>
              </a:rPr>
              <a:t> </a:t>
            </a:r>
            <a:r>
              <a:rPr sz="800" b="0" i="0" dirty="0" err="1">
                <a:solidFill>
                  <a:srgbClr val="24292E"/>
                </a:solidFill>
                <a:latin typeface="Calibri"/>
              </a:rPr>
              <a:t>paciente</a:t>
            </a:r>
            <a:r>
              <a:rPr sz="800" b="0" i="0" dirty="0">
                <a:solidFill>
                  <a:srgbClr val="24292E"/>
                </a:solidFill>
                <a:latin typeface="Calibri"/>
              </a:rPr>
              <a:t>.</a:t>
            </a:r>
          </a:p>
        </p:txBody>
      </p:sp>
      <p:sp>
        <p:nvSpPr>
          <p:cNvPr id="14" name="Rectangle 13"/>
          <p:cNvSpPr/>
          <p:nvPr/>
        </p:nvSpPr>
        <p:spPr>
          <a:xfrm>
            <a:off x="3182112" y="3493008"/>
            <a:ext cx="2779776" cy="12252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310128" y="3584448"/>
            <a:ext cx="2523744" cy="237744"/>
          </a:xfrm>
          <a:prstGeom prst="rect">
            <a:avLst/>
          </a:prstGeom>
          <a:noFill/>
        </p:spPr>
        <p:txBody>
          <a:bodyPr wrap="square" lIns="0" tIns="0" rIns="0" bIns="0" anchor="t">
            <a:spAutoFit/>
          </a:bodyPr>
          <a:lstStyle/>
          <a:p>
            <a:pPr algn="l">
              <a:lnSpc>
                <a:spcPct val="100000"/>
              </a:lnSpc>
            </a:pPr>
            <a:r>
              <a:rPr sz="1000" b="1" i="0">
                <a:solidFill>
                  <a:srgbClr val="0B3D5C"/>
                </a:solidFill>
                <a:latin typeface="Calibri"/>
              </a:rPr>
              <a:t>Verificación explícita</a:t>
            </a:r>
          </a:p>
        </p:txBody>
      </p:sp>
      <p:sp>
        <p:nvSpPr>
          <p:cNvPr id="16" name="TextBox 15"/>
          <p:cNvSpPr txBox="1"/>
          <p:nvPr/>
        </p:nvSpPr>
        <p:spPr>
          <a:xfrm>
            <a:off x="3310128" y="3840480"/>
            <a:ext cx="2523744" cy="786384"/>
          </a:xfrm>
          <a:prstGeom prst="rect">
            <a:avLst/>
          </a:prstGeom>
          <a:noFill/>
        </p:spPr>
        <p:txBody>
          <a:bodyPr wrap="square" lIns="0" tIns="0" rIns="0" bIns="0" anchor="t">
            <a:spAutoFit/>
          </a:bodyPr>
          <a:lstStyle/>
          <a:p>
            <a:pPr algn="l">
              <a:lnSpc>
                <a:spcPct val="108000"/>
              </a:lnSpc>
            </a:pPr>
            <a:r>
              <a:rPr sz="800" b="0" i="0">
                <a:solidFill>
                  <a:srgbClr val="24292E"/>
                </a:solidFill>
                <a:latin typeface="Calibri"/>
              </a:rPr>
              <a:t>GroupShuffleSplit por patient_nbr con tres assert: 0 pacientes compartidos, 0 encuentros compartidos y ninguna fila perdida. Tasa &lt;30d: 11.27 % train vs 10.91 % test.</a:t>
            </a:r>
          </a:p>
        </p:txBody>
      </p:sp>
      <p:sp>
        <p:nvSpPr>
          <p:cNvPr id="17" name="Rectangle 16"/>
          <p:cNvSpPr/>
          <p:nvPr/>
        </p:nvSpPr>
        <p:spPr>
          <a:xfrm>
            <a:off x="5952744" y="3493008"/>
            <a:ext cx="2779776" cy="12252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080759" y="3584448"/>
            <a:ext cx="2523744" cy="237744"/>
          </a:xfrm>
          <a:prstGeom prst="rect">
            <a:avLst/>
          </a:prstGeom>
          <a:noFill/>
        </p:spPr>
        <p:txBody>
          <a:bodyPr wrap="square" lIns="0" tIns="0" rIns="0" bIns="0" anchor="t">
            <a:spAutoFit/>
          </a:bodyPr>
          <a:lstStyle/>
          <a:p>
            <a:pPr algn="l">
              <a:lnSpc>
                <a:spcPct val="100000"/>
              </a:lnSpc>
            </a:pPr>
            <a:r>
              <a:rPr sz="1000" b="1" i="0">
                <a:solidFill>
                  <a:srgbClr val="0B3D5C"/>
                </a:solidFill>
                <a:latin typeface="Calibri"/>
              </a:rPr>
              <a:t>A partir de acá, test se congela</a:t>
            </a:r>
          </a:p>
        </p:txBody>
      </p:sp>
      <p:sp>
        <p:nvSpPr>
          <p:cNvPr id="19" name="TextBox 18"/>
          <p:cNvSpPr txBox="1"/>
          <p:nvPr/>
        </p:nvSpPr>
        <p:spPr>
          <a:xfrm>
            <a:off x="6080759" y="3840480"/>
            <a:ext cx="2523744" cy="786384"/>
          </a:xfrm>
          <a:prstGeom prst="rect">
            <a:avLst/>
          </a:prstGeom>
          <a:noFill/>
        </p:spPr>
        <p:txBody>
          <a:bodyPr wrap="square" lIns="0" tIns="0" rIns="0" bIns="0" anchor="t">
            <a:spAutoFit/>
          </a:bodyPr>
          <a:lstStyle/>
          <a:p>
            <a:pPr algn="l">
              <a:lnSpc>
                <a:spcPct val="108000"/>
              </a:lnSpc>
            </a:pPr>
            <a:r>
              <a:rPr sz="800" b="0" i="0">
                <a:solidFill>
                  <a:srgbClr val="24292E"/>
                </a:solidFill>
                <a:latin typeface="Calibri"/>
              </a:rPr>
              <a:t>Ningún estadístico usado para transformar los datos se ajusta con test, y ninguna decisión de preprocesamiento se toma mirando test.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74904" y="182880"/>
            <a:ext cx="7315200" cy="219456"/>
          </a:xfrm>
          <a:prstGeom prst="rect">
            <a:avLst/>
          </a:prstGeom>
          <a:noFill/>
        </p:spPr>
        <p:txBody>
          <a:bodyPr wrap="square" lIns="0" tIns="0" rIns="0" bIns="0" anchor="t">
            <a:spAutoFit/>
          </a:bodyPr>
          <a:lstStyle/>
          <a:p>
            <a:pPr algn="l">
              <a:lnSpc>
                <a:spcPct val="100000"/>
              </a:lnSpc>
            </a:pPr>
            <a:r>
              <a:rPr sz="900" b="1" i="0">
                <a:solidFill>
                  <a:srgbClr val="1C7293"/>
                </a:solidFill>
                <a:latin typeface="Calibri"/>
              </a:rPr>
              <a:t>03 · EDA ANALÍTICO — DESPUÉS DEL SPLIT, SOLO TRAIN</a:t>
            </a:r>
          </a:p>
        </p:txBody>
      </p:sp>
      <p:sp>
        <p:nvSpPr>
          <p:cNvPr id="3" name="TextBox 2"/>
          <p:cNvSpPr txBox="1"/>
          <p:nvPr/>
        </p:nvSpPr>
        <p:spPr>
          <a:xfrm>
            <a:off x="374904" y="365760"/>
            <a:ext cx="8366760" cy="457200"/>
          </a:xfrm>
          <a:prstGeom prst="rect">
            <a:avLst/>
          </a:prstGeom>
          <a:noFill/>
        </p:spPr>
        <p:txBody>
          <a:bodyPr wrap="square" lIns="0" tIns="0" rIns="0" bIns="0" anchor="t">
            <a:spAutoFit/>
          </a:bodyPr>
          <a:lstStyle/>
          <a:p>
            <a:pPr algn="l">
              <a:lnSpc>
                <a:spcPct val="100000"/>
              </a:lnSpc>
            </a:pPr>
            <a:r>
              <a:rPr sz="2000" b="1" i="0">
                <a:solidFill>
                  <a:srgbClr val="0B3D5C"/>
                </a:solidFill>
                <a:latin typeface="Calibri"/>
              </a:rPr>
              <a:t>Asociación con el target, calculada únicamente con train</a:t>
            </a:r>
          </a:p>
        </p:txBody>
      </p:sp>
      <p:sp>
        <p:nvSpPr>
          <p:cNvPr id="4" name="TextBox 3"/>
          <p:cNvSpPr txBox="1"/>
          <p:nvPr/>
        </p:nvSpPr>
        <p:spPr>
          <a:xfrm>
            <a:off x="347472" y="4846320"/>
            <a:ext cx="5486400" cy="201168"/>
          </a:xfrm>
          <a:prstGeom prst="rect">
            <a:avLst/>
          </a:prstGeom>
          <a:noFill/>
        </p:spPr>
        <p:txBody>
          <a:bodyPr wrap="square" lIns="0" tIns="0" rIns="0" bIns="0" anchor="t">
            <a:spAutoFit/>
          </a:bodyPr>
          <a:lstStyle/>
          <a:p>
            <a:pPr algn="l">
              <a:lnSpc>
                <a:spcPct val="100000"/>
              </a:lnSpc>
            </a:pPr>
            <a:r>
              <a:rPr sz="700" b="0" i="0">
                <a:solidFill>
                  <a:srgbClr val="AAB4BD"/>
                </a:solidFill>
                <a:latin typeface="Calibri"/>
              </a:rPr>
              <a:t>Diabetes 130-US Hospitals — Reingreso Hospitalario</a:t>
            </a:r>
          </a:p>
        </p:txBody>
      </p:sp>
      <p:sp>
        <p:nvSpPr>
          <p:cNvPr id="5" name="TextBox 4"/>
          <p:cNvSpPr txBox="1"/>
          <p:nvPr/>
        </p:nvSpPr>
        <p:spPr>
          <a:xfrm>
            <a:off x="8138160" y="4846320"/>
            <a:ext cx="658368" cy="201168"/>
          </a:xfrm>
          <a:prstGeom prst="rect">
            <a:avLst/>
          </a:prstGeom>
          <a:noFill/>
        </p:spPr>
        <p:txBody>
          <a:bodyPr wrap="square" lIns="0" tIns="0" rIns="0" bIns="0" anchor="t">
            <a:spAutoFit/>
          </a:bodyPr>
          <a:lstStyle/>
          <a:p>
            <a:pPr algn="r">
              <a:lnSpc>
                <a:spcPct val="100000"/>
              </a:lnSpc>
            </a:pPr>
            <a:r>
              <a:rPr sz="700" b="0" i="0">
                <a:solidFill>
                  <a:srgbClr val="AAB4BD"/>
                </a:solidFill>
                <a:latin typeface="Calibri"/>
              </a:rPr>
              <a:t>4 / 8</a:t>
            </a:r>
          </a:p>
        </p:txBody>
      </p:sp>
      <p:sp>
        <p:nvSpPr>
          <p:cNvPr id="6" name="Rectangle 5"/>
          <p:cNvSpPr/>
          <p:nvPr/>
        </p:nvSpPr>
        <p:spPr>
          <a:xfrm>
            <a:off x="411480" y="841248"/>
            <a:ext cx="8321040" cy="603504"/>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21792" y="905256"/>
            <a:ext cx="7955279" cy="219456"/>
          </a:xfrm>
          <a:prstGeom prst="rect">
            <a:avLst/>
          </a:prstGeom>
          <a:noFill/>
        </p:spPr>
        <p:txBody>
          <a:bodyPr wrap="square" lIns="0" tIns="0" rIns="0" bIns="0" anchor="t">
            <a:spAutoFit/>
          </a:bodyPr>
          <a:lstStyle/>
          <a:p>
            <a:pPr algn="l">
              <a:lnSpc>
                <a:spcPct val="100000"/>
              </a:lnSpc>
            </a:pPr>
            <a:r>
              <a:rPr sz="1200" b="1" i="0">
                <a:solidFill>
                  <a:srgbClr val="E8A33D"/>
                </a:solidFill>
                <a:latin typeface="Calibri"/>
              </a:rPr>
              <a:t>Todo lo que cruza contra el target va DESPUÉS del split</a:t>
            </a:r>
          </a:p>
        </p:txBody>
      </p:sp>
      <p:sp>
        <p:nvSpPr>
          <p:cNvPr id="8" name="TextBox 7"/>
          <p:cNvSpPr txBox="1"/>
          <p:nvPr/>
        </p:nvSpPr>
        <p:spPr>
          <a:xfrm>
            <a:off x="621792" y="1133856"/>
            <a:ext cx="7955279" cy="256032"/>
          </a:xfrm>
          <a:prstGeom prst="rect">
            <a:avLst/>
          </a:prstGeom>
          <a:noFill/>
        </p:spPr>
        <p:txBody>
          <a:bodyPr wrap="square" lIns="0" tIns="0" rIns="0" bIns="0" anchor="t">
            <a:spAutoFit/>
          </a:bodyPr>
          <a:lstStyle/>
          <a:p>
            <a:pPr algn="l">
              <a:lnSpc>
                <a:spcPct val="105000"/>
              </a:lnSpc>
            </a:pPr>
            <a:r>
              <a:rPr sz="900" b="0" i="0">
                <a:solidFill>
                  <a:srgbClr val="FFFFFF"/>
                </a:solidFill>
                <a:latin typeface="Calibri"/>
              </a:rPr>
              <a:t>Distribuciones, umbrales de outliers, correlaciones y medidas de asociación son estimaciones muestrales que alimentan decisiones de modelado. Calcularlas con test adentro sesga esas decisiones (data snooping): por eso este bloque usa solo las 71.583 filas de train.</a:t>
            </a:r>
          </a:p>
        </p:txBody>
      </p:sp>
      <p:pic>
        <p:nvPicPr>
          <p:cNvPr id="9" name="Picture 8" descr="s4_cramer.png"/>
          <p:cNvPicPr>
            <a:picLocks noChangeAspect="1"/>
          </p:cNvPicPr>
          <p:nvPr/>
        </p:nvPicPr>
        <p:blipFill>
          <a:blip r:embed="rId2"/>
          <a:stretch>
            <a:fillRect/>
          </a:stretch>
        </p:blipFill>
        <p:spPr>
          <a:xfrm>
            <a:off x="411480" y="1554480"/>
            <a:ext cx="4023360" cy="1828800"/>
          </a:xfrm>
          <a:prstGeom prst="rect">
            <a:avLst/>
          </a:prstGeom>
        </p:spPr>
      </p:pic>
      <p:pic>
        <p:nvPicPr>
          <p:cNvPr id="10" name="Picture 9" descr="s4_edad.png"/>
          <p:cNvPicPr>
            <a:picLocks noChangeAspect="1"/>
          </p:cNvPicPr>
          <p:nvPr/>
        </p:nvPicPr>
        <p:blipFill>
          <a:blip r:embed="rId3"/>
          <a:stretch>
            <a:fillRect/>
          </a:stretch>
        </p:blipFill>
        <p:spPr>
          <a:xfrm>
            <a:off x="4709160" y="1554480"/>
            <a:ext cx="4023360" cy="1828800"/>
          </a:xfrm>
          <a:prstGeom prst="rect">
            <a:avLst/>
          </a:prstGeom>
        </p:spPr>
      </p:pic>
      <p:sp>
        <p:nvSpPr>
          <p:cNvPr id="11" name="Rectangle 10"/>
          <p:cNvSpPr/>
          <p:nvPr/>
        </p:nvSpPr>
        <p:spPr>
          <a:xfrm>
            <a:off x="411480" y="3493008"/>
            <a:ext cx="2779776" cy="12252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9496" y="3584448"/>
            <a:ext cx="2523744" cy="237744"/>
          </a:xfrm>
          <a:prstGeom prst="rect">
            <a:avLst/>
          </a:prstGeom>
          <a:noFill/>
        </p:spPr>
        <p:txBody>
          <a:bodyPr wrap="square" lIns="0" tIns="0" rIns="0" bIns="0" anchor="t">
            <a:spAutoFit/>
          </a:bodyPr>
          <a:lstStyle/>
          <a:p>
            <a:pPr algn="l">
              <a:lnSpc>
                <a:spcPct val="100000"/>
              </a:lnSpc>
            </a:pPr>
            <a:r>
              <a:rPr sz="1000" b="1" i="0">
                <a:solidFill>
                  <a:srgbClr val="0B3D5C"/>
                </a:solidFill>
                <a:latin typeface="Calibri"/>
              </a:rPr>
              <a:t>Tipo de alta: la señal más fuerte</a:t>
            </a:r>
          </a:p>
        </p:txBody>
      </p:sp>
      <p:sp>
        <p:nvSpPr>
          <p:cNvPr id="13" name="TextBox 12"/>
          <p:cNvSpPr txBox="1"/>
          <p:nvPr/>
        </p:nvSpPr>
        <p:spPr>
          <a:xfrm>
            <a:off x="539496" y="3840480"/>
            <a:ext cx="2523744" cy="392800"/>
          </a:xfrm>
          <a:prstGeom prst="rect">
            <a:avLst/>
          </a:prstGeom>
          <a:noFill/>
        </p:spPr>
        <p:txBody>
          <a:bodyPr wrap="square" lIns="0" tIns="0" rIns="0" bIns="0" anchor="t">
            <a:spAutoFit/>
          </a:bodyPr>
          <a:lstStyle/>
          <a:p>
            <a:pPr algn="l">
              <a:lnSpc>
                <a:spcPct val="108000"/>
              </a:lnSpc>
            </a:pPr>
            <a:r>
              <a:rPr sz="800" b="0" i="0" dirty="0" err="1">
                <a:solidFill>
                  <a:srgbClr val="24292E"/>
                </a:solidFill>
                <a:latin typeface="Calibri"/>
              </a:rPr>
              <a:t>discharge_disposition_id</a:t>
            </a:r>
            <a:r>
              <a:rPr sz="800" b="0" i="0" dirty="0">
                <a:solidFill>
                  <a:srgbClr val="24292E"/>
                </a:solidFill>
                <a:latin typeface="Calibri"/>
              </a:rPr>
              <a:t> (V de Cramér = 0.133) </a:t>
            </a:r>
            <a:r>
              <a:rPr sz="800" b="0" i="0" dirty="0" err="1">
                <a:solidFill>
                  <a:srgbClr val="24292E"/>
                </a:solidFill>
                <a:latin typeface="Calibri"/>
              </a:rPr>
              <a:t>encabeza</a:t>
            </a:r>
            <a:r>
              <a:rPr sz="800" b="0" i="0" dirty="0">
                <a:solidFill>
                  <a:srgbClr val="24292E"/>
                </a:solidFill>
                <a:latin typeface="Calibri"/>
              </a:rPr>
              <a:t> el ranking</a:t>
            </a:r>
            <a:r>
              <a:rPr lang="en-US" sz="800" b="0" i="0" dirty="0">
                <a:solidFill>
                  <a:srgbClr val="24292E"/>
                </a:solidFill>
                <a:latin typeface="Calibri"/>
              </a:rPr>
              <a:t> con </a:t>
            </a:r>
            <a:r>
              <a:rPr lang="en-US" sz="800" dirty="0" err="1">
                <a:solidFill>
                  <a:srgbClr val="24292E"/>
                </a:solidFill>
                <a:latin typeface="Calibri"/>
              </a:rPr>
              <a:t>t</a:t>
            </a:r>
            <a:r>
              <a:rPr sz="800" b="0" i="0" dirty="0" err="1">
                <a:solidFill>
                  <a:srgbClr val="24292E"/>
                </a:solidFill>
                <a:latin typeface="Calibri"/>
              </a:rPr>
              <a:t>ransferencia</a:t>
            </a:r>
            <a:r>
              <a:rPr sz="800" b="0" i="0" dirty="0">
                <a:solidFill>
                  <a:srgbClr val="24292E"/>
                </a:solidFill>
                <a:latin typeface="Calibri"/>
              </a:rPr>
              <a:t> a </a:t>
            </a:r>
            <a:r>
              <a:rPr sz="800" b="0" i="0" dirty="0" err="1">
                <a:solidFill>
                  <a:srgbClr val="24292E"/>
                </a:solidFill>
                <a:latin typeface="Calibri"/>
              </a:rPr>
              <a:t>rehabilitación</a:t>
            </a:r>
            <a:r>
              <a:rPr sz="800" b="0" i="0" dirty="0">
                <a:solidFill>
                  <a:srgbClr val="24292E"/>
                </a:solidFill>
                <a:latin typeface="Calibri"/>
              </a:rPr>
              <a:t>: 26.0 % de </a:t>
            </a:r>
            <a:r>
              <a:rPr sz="800" b="0" i="0" dirty="0" err="1">
                <a:solidFill>
                  <a:srgbClr val="24292E"/>
                </a:solidFill>
                <a:latin typeface="Calibri"/>
              </a:rPr>
              <a:t>reingreso</a:t>
            </a:r>
            <a:r>
              <a:rPr sz="800" b="0" i="0" dirty="0">
                <a:solidFill>
                  <a:srgbClr val="24292E"/>
                </a:solidFill>
                <a:latin typeface="Calibri"/>
              </a:rPr>
              <a:t> vs 9.3 % </a:t>
            </a:r>
            <a:r>
              <a:rPr sz="800" b="0" i="0" dirty="0" err="1">
                <a:solidFill>
                  <a:srgbClr val="24292E"/>
                </a:solidFill>
                <a:latin typeface="Calibri"/>
              </a:rPr>
              <a:t>en</a:t>
            </a:r>
            <a:r>
              <a:rPr sz="800" b="0" i="0" dirty="0">
                <a:solidFill>
                  <a:srgbClr val="24292E"/>
                </a:solidFill>
                <a:latin typeface="Calibri"/>
              </a:rPr>
              <a:t> </a:t>
            </a:r>
            <a:r>
              <a:rPr sz="800" b="0" i="0" dirty="0" err="1">
                <a:solidFill>
                  <a:srgbClr val="24292E"/>
                </a:solidFill>
                <a:latin typeface="Calibri"/>
              </a:rPr>
              <a:t>alta</a:t>
            </a:r>
            <a:r>
              <a:rPr sz="800" b="0" i="0" dirty="0">
                <a:solidFill>
                  <a:srgbClr val="24292E"/>
                </a:solidFill>
                <a:latin typeface="Calibri"/>
              </a:rPr>
              <a:t> a </a:t>
            </a:r>
            <a:r>
              <a:rPr sz="800" b="0" i="0" dirty="0" err="1">
                <a:solidFill>
                  <a:srgbClr val="24292E"/>
                </a:solidFill>
                <a:latin typeface="Calibri"/>
              </a:rPr>
              <a:t>domicilio</a:t>
            </a:r>
            <a:r>
              <a:rPr sz="800" b="0" i="0" dirty="0">
                <a:solidFill>
                  <a:srgbClr val="24292E"/>
                </a:solidFill>
                <a:latin typeface="Calibri"/>
              </a:rPr>
              <a:t>.</a:t>
            </a:r>
          </a:p>
        </p:txBody>
      </p:sp>
      <p:sp>
        <p:nvSpPr>
          <p:cNvPr id="14" name="Rectangle 13"/>
          <p:cNvSpPr/>
          <p:nvPr/>
        </p:nvSpPr>
        <p:spPr>
          <a:xfrm>
            <a:off x="3182112" y="3493008"/>
            <a:ext cx="2779776" cy="12252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310128" y="3584448"/>
            <a:ext cx="2523744" cy="237744"/>
          </a:xfrm>
          <a:prstGeom prst="rect">
            <a:avLst/>
          </a:prstGeom>
          <a:noFill/>
        </p:spPr>
        <p:txBody>
          <a:bodyPr wrap="square" lIns="0" tIns="0" rIns="0" bIns="0" anchor="t">
            <a:spAutoFit/>
          </a:bodyPr>
          <a:lstStyle/>
          <a:p>
            <a:pPr algn="l">
              <a:lnSpc>
                <a:spcPct val="100000"/>
              </a:lnSpc>
            </a:pPr>
            <a:r>
              <a:rPr sz="1000" b="1" i="0">
                <a:solidFill>
                  <a:srgbClr val="0B3D5C"/>
                </a:solidFill>
                <a:latin typeface="Calibri"/>
              </a:rPr>
              <a:t>La edad no es monótona</a:t>
            </a:r>
          </a:p>
        </p:txBody>
      </p:sp>
      <p:sp>
        <p:nvSpPr>
          <p:cNvPr id="16" name="TextBox 15"/>
          <p:cNvSpPr txBox="1"/>
          <p:nvPr/>
        </p:nvSpPr>
        <p:spPr>
          <a:xfrm>
            <a:off x="3310128" y="3840480"/>
            <a:ext cx="2523744" cy="786384"/>
          </a:xfrm>
          <a:prstGeom prst="rect">
            <a:avLst/>
          </a:prstGeom>
          <a:noFill/>
        </p:spPr>
        <p:txBody>
          <a:bodyPr wrap="square" lIns="0" tIns="0" rIns="0" bIns="0" anchor="t">
            <a:spAutoFit/>
          </a:bodyPr>
          <a:lstStyle/>
          <a:p>
            <a:pPr algn="l">
              <a:lnSpc>
                <a:spcPct val="108000"/>
              </a:lnSpc>
            </a:pPr>
            <a:r>
              <a:rPr sz="800" b="0" i="0">
                <a:solidFill>
                  <a:srgbClr val="24292E"/>
                </a:solidFill>
                <a:latin typeface="Calibri"/>
              </a:rPr>
              <a:t>Pica en adultos jóvenes (20-30 años, 15.7 %), baja hasta 9.4 % en la franja 50-60 y vuelve a subir después de los 60, sin recuperar el pico inicial.</a:t>
            </a:r>
          </a:p>
        </p:txBody>
      </p:sp>
      <p:sp>
        <p:nvSpPr>
          <p:cNvPr id="17" name="Rectangle 16"/>
          <p:cNvSpPr/>
          <p:nvPr/>
        </p:nvSpPr>
        <p:spPr>
          <a:xfrm>
            <a:off x="5952744" y="3493008"/>
            <a:ext cx="2779776" cy="12252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080759" y="3584448"/>
            <a:ext cx="2523744" cy="237744"/>
          </a:xfrm>
          <a:prstGeom prst="rect">
            <a:avLst/>
          </a:prstGeom>
          <a:noFill/>
        </p:spPr>
        <p:txBody>
          <a:bodyPr wrap="square" lIns="0" tIns="0" rIns="0" bIns="0" anchor="t">
            <a:spAutoFit/>
          </a:bodyPr>
          <a:lstStyle/>
          <a:p>
            <a:pPr algn="l">
              <a:lnSpc>
                <a:spcPct val="100000"/>
              </a:lnSpc>
            </a:pPr>
            <a:r>
              <a:rPr sz="1000" b="1" i="0">
                <a:solidFill>
                  <a:srgbClr val="0B3D5C"/>
                </a:solidFill>
                <a:latin typeface="Calibri"/>
              </a:rPr>
              <a:t>Fenómeno multifactorial</a:t>
            </a:r>
          </a:p>
        </p:txBody>
      </p:sp>
      <p:sp>
        <p:nvSpPr>
          <p:cNvPr id="19" name="TextBox 18"/>
          <p:cNvSpPr txBox="1"/>
          <p:nvPr/>
        </p:nvSpPr>
        <p:spPr>
          <a:xfrm>
            <a:off x="6080759" y="3840480"/>
            <a:ext cx="2523744" cy="786384"/>
          </a:xfrm>
          <a:prstGeom prst="rect">
            <a:avLst/>
          </a:prstGeom>
          <a:noFill/>
        </p:spPr>
        <p:txBody>
          <a:bodyPr wrap="square" lIns="0" tIns="0" rIns="0" bIns="0" anchor="t">
            <a:spAutoFit/>
          </a:bodyPr>
          <a:lstStyle/>
          <a:p>
            <a:pPr algn="l">
              <a:lnSpc>
                <a:spcPct val="108000"/>
              </a:lnSpc>
            </a:pPr>
            <a:r>
              <a:rPr sz="800" b="0" i="0">
                <a:solidFill>
                  <a:srgbClr val="24292E"/>
                </a:solidFill>
                <a:latin typeface="Calibri"/>
              </a:rPr>
              <a:t>Ninguna variable aislada domina (V de Cramér máx. ≈ 0.13, Eta² máx. ≈ 0.055): es el escenario donde un modelo multivariado aporta más que una regla simple.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74904" y="182880"/>
            <a:ext cx="7315200" cy="219456"/>
          </a:xfrm>
          <a:prstGeom prst="rect">
            <a:avLst/>
          </a:prstGeom>
          <a:noFill/>
        </p:spPr>
        <p:txBody>
          <a:bodyPr wrap="square" lIns="0" tIns="0" rIns="0" bIns="0" anchor="t">
            <a:spAutoFit/>
          </a:bodyPr>
          <a:lstStyle/>
          <a:p>
            <a:pPr algn="l">
              <a:lnSpc>
                <a:spcPct val="100000"/>
              </a:lnSpc>
            </a:pPr>
            <a:r>
              <a:rPr sz="900" b="1" i="0">
                <a:solidFill>
                  <a:srgbClr val="1C7293"/>
                </a:solidFill>
                <a:latin typeface="Calibri"/>
              </a:rPr>
              <a:t>04 · PREPROCESAMIENTO Y FEATURE ENGINEERING</a:t>
            </a:r>
          </a:p>
        </p:txBody>
      </p:sp>
      <p:sp>
        <p:nvSpPr>
          <p:cNvPr id="3" name="TextBox 2"/>
          <p:cNvSpPr txBox="1"/>
          <p:nvPr/>
        </p:nvSpPr>
        <p:spPr>
          <a:xfrm>
            <a:off x="374904" y="365760"/>
            <a:ext cx="8366760" cy="457200"/>
          </a:xfrm>
          <a:prstGeom prst="rect">
            <a:avLst/>
          </a:prstGeom>
          <a:noFill/>
        </p:spPr>
        <p:txBody>
          <a:bodyPr wrap="square" lIns="0" tIns="0" rIns="0" bIns="0" anchor="t">
            <a:spAutoFit/>
          </a:bodyPr>
          <a:lstStyle/>
          <a:p>
            <a:pPr algn="l">
              <a:lnSpc>
                <a:spcPct val="100000"/>
              </a:lnSpc>
            </a:pPr>
            <a:r>
              <a:rPr sz="2000" b="1" i="0">
                <a:solidFill>
                  <a:srgbClr val="0B3D5C"/>
                </a:solidFill>
                <a:latin typeface="Calibri"/>
              </a:rPr>
              <a:t>Nulos, outliers y nuevos features</a:t>
            </a:r>
          </a:p>
        </p:txBody>
      </p:sp>
      <p:sp>
        <p:nvSpPr>
          <p:cNvPr id="4" name="TextBox 3"/>
          <p:cNvSpPr txBox="1"/>
          <p:nvPr/>
        </p:nvSpPr>
        <p:spPr>
          <a:xfrm>
            <a:off x="347472" y="4846320"/>
            <a:ext cx="5486400" cy="201168"/>
          </a:xfrm>
          <a:prstGeom prst="rect">
            <a:avLst/>
          </a:prstGeom>
          <a:noFill/>
        </p:spPr>
        <p:txBody>
          <a:bodyPr wrap="square" lIns="0" tIns="0" rIns="0" bIns="0" anchor="t">
            <a:spAutoFit/>
          </a:bodyPr>
          <a:lstStyle/>
          <a:p>
            <a:pPr algn="l">
              <a:lnSpc>
                <a:spcPct val="100000"/>
              </a:lnSpc>
            </a:pPr>
            <a:r>
              <a:rPr sz="700" b="0" i="0">
                <a:solidFill>
                  <a:srgbClr val="AAB4BD"/>
                </a:solidFill>
                <a:latin typeface="Calibri"/>
              </a:rPr>
              <a:t>Diabetes 130-US Hospitals — Reingreso Hospitalario</a:t>
            </a:r>
          </a:p>
        </p:txBody>
      </p:sp>
      <p:sp>
        <p:nvSpPr>
          <p:cNvPr id="5" name="TextBox 4"/>
          <p:cNvSpPr txBox="1"/>
          <p:nvPr/>
        </p:nvSpPr>
        <p:spPr>
          <a:xfrm>
            <a:off x="8138160" y="4846320"/>
            <a:ext cx="658368" cy="201168"/>
          </a:xfrm>
          <a:prstGeom prst="rect">
            <a:avLst/>
          </a:prstGeom>
          <a:noFill/>
        </p:spPr>
        <p:txBody>
          <a:bodyPr wrap="square" lIns="0" tIns="0" rIns="0" bIns="0" anchor="t">
            <a:spAutoFit/>
          </a:bodyPr>
          <a:lstStyle/>
          <a:p>
            <a:pPr algn="r">
              <a:lnSpc>
                <a:spcPct val="100000"/>
              </a:lnSpc>
            </a:pPr>
            <a:r>
              <a:rPr sz="700" b="0" i="0">
                <a:solidFill>
                  <a:srgbClr val="AAB4BD"/>
                </a:solidFill>
                <a:latin typeface="Calibri"/>
              </a:rPr>
              <a:t>5 / 8</a:t>
            </a:r>
          </a:p>
        </p:txBody>
      </p:sp>
      <p:sp>
        <p:nvSpPr>
          <p:cNvPr id="6" name="Rectangle 5"/>
          <p:cNvSpPr/>
          <p:nvPr/>
        </p:nvSpPr>
        <p:spPr>
          <a:xfrm>
            <a:off x="411480" y="841248"/>
            <a:ext cx="8321040" cy="603504"/>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21792" y="905256"/>
            <a:ext cx="7955279" cy="219456"/>
          </a:xfrm>
          <a:prstGeom prst="rect">
            <a:avLst/>
          </a:prstGeom>
          <a:noFill/>
        </p:spPr>
        <p:txBody>
          <a:bodyPr wrap="square" lIns="0" tIns="0" rIns="0" bIns="0" anchor="t">
            <a:spAutoFit/>
          </a:bodyPr>
          <a:lstStyle/>
          <a:p>
            <a:pPr algn="l">
              <a:lnSpc>
                <a:spcPct val="100000"/>
              </a:lnSpc>
            </a:pPr>
            <a:r>
              <a:rPr sz="1200" b="1" i="0">
                <a:solidFill>
                  <a:srgbClr val="E8A33D"/>
                </a:solidFill>
                <a:latin typeface="Calibri"/>
              </a:rPr>
              <a:t>Estrategia de valores nulos</a:t>
            </a:r>
          </a:p>
        </p:txBody>
      </p:sp>
      <p:sp>
        <p:nvSpPr>
          <p:cNvPr id="8" name="TextBox 7"/>
          <p:cNvSpPr txBox="1"/>
          <p:nvPr/>
        </p:nvSpPr>
        <p:spPr>
          <a:xfrm>
            <a:off x="621792" y="1133856"/>
            <a:ext cx="7955279" cy="256032"/>
          </a:xfrm>
          <a:prstGeom prst="rect">
            <a:avLst/>
          </a:prstGeom>
          <a:noFill/>
        </p:spPr>
        <p:txBody>
          <a:bodyPr wrap="square" lIns="0" tIns="0" rIns="0" bIns="0" anchor="t">
            <a:spAutoFit/>
          </a:bodyPr>
          <a:lstStyle/>
          <a:p>
            <a:pPr algn="l">
              <a:lnSpc>
                <a:spcPct val="105000"/>
              </a:lnSpc>
            </a:pPr>
            <a:r>
              <a:rPr sz="900" b="0" i="0">
                <a:solidFill>
                  <a:srgbClr val="FFFFFF"/>
                </a:solidFill>
                <a:latin typeface="Calibri"/>
              </a:rPr>
              <a:t>Se descarta weight (96.9 %, sin señal explotable) · Se conservan max_glu_serum y A1Cresult con categoría "No medido" (el faltante ES informativo) · medical_specialty y payer_code con categoría "Faltante" · race se imputa con la moda DE TRAIN.</a:t>
            </a:r>
          </a:p>
        </p:txBody>
      </p:sp>
      <p:pic>
        <p:nvPicPr>
          <p:cNvPr id="9" name="Picture 8" descr="s5_outliers.png"/>
          <p:cNvPicPr>
            <a:picLocks noChangeAspect="1"/>
          </p:cNvPicPr>
          <p:nvPr/>
        </p:nvPicPr>
        <p:blipFill>
          <a:blip r:embed="rId2"/>
          <a:stretch>
            <a:fillRect/>
          </a:stretch>
        </p:blipFill>
        <p:spPr>
          <a:xfrm>
            <a:off x="411480" y="1554480"/>
            <a:ext cx="4023360" cy="1828800"/>
          </a:xfrm>
          <a:prstGeom prst="rect">
            <a:avLst/>
          </a:prstGeom>
        </p:spPr>
      </p:pic>
      <p:pic>
        <p:nvPicPr>
          <p:cNvPr id="10" name="Picture 9" descr="s5_familias.png"/>
          <p:cNvPicPr>
            <a:picLocks noChangeAspect="1"/>
          </p:cNvPicPr>
          <p:nvPr/>
        </p:nvPicPr>
        <p:blipFill>
          <a:blip r:embed="rId3"/>
          <a:stretch>
            <a:fillRect/>
          </a:stretch>
        </p:blipFill>
        <p:spPr>
          <a:xfrm>
            <a:off x="4850111" y="1673352"/>
            <a:ext cx="4023360" cy="1828800"/>
          </a:xfrm>
          <a:prstGeom prst="rect">
            <a:avLst/>
          </a:prstGeom>
        </p:spPr>
      </p:pic>
      <p:pic>
        <p:nvPicPr>
          <p:cNvPr id="22" name="Imagen 21">
            <a:extLst>
              <a:ext uri="{FF2B5EF4-FFF2-40B4-BE49-F238E27FC236}">
                <a16:creationId xmlns:a16="http://schemas.microsoft.com/office/drawing/2014/main" id="{7961FEFB-5615-E5EF-C3BF-E3E5824311AA}"/>
              </a:ext>
            </a:extLst>
          </p:cNvPr>
          <p:cNvPicPr>
            <a:picLocks noChangeAspect="1"/>
          </p:cNvPicPr>
          <p:nvPr/>
        </p:nvPicPr>
        <p:blipFill>
          <a:blip r:embed="rId4"/>
          <a:stretch>
            <a:fillRect/>
          </a:stretch>
        </p:blipFill>
        <p:spPr>
          <a:xfrm>
            <a:off x="5272610" y="1453896"/>
            <a:ext cx="3450766" cy="2130552"/>
          </a:xfrm>
          <a:prstGeom prst="rect">
            <a:avLst/>
          </a:prstGeom>
        </p:spPr>
      </p:pic>
      <p:sp>
        <p:nvSpPr>
          <p:cNvPr id="11" name="Rectangle 10"/>
          <p:cNvSpPr/>
          <p:nvPr/>
        </p:nvSpPr>
        <p:spPr>
          <a:xfrm>
            <a:off x="411480" y="3493008"/>
            <a:ext cx="2779776" cy="12252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9496" y="3584448"/>
            <a:ext cx="2523744" cy="237744"/>
          </a:xfrm>
          <a:prstGeom prst="rect">
            <a:avLst/>
          </a:prstGeom>
          <a:noFill/>
        </p:spPr>
        <p:txBody>
          <a:bodyPr wrap="square" lIns="0" tIns="0" rIns="0" bIns="0" anchor="t">
            <a:spAutoFit/>
          </a:bodyPr>
          <a:lstStyle/>
          <a:p>
            <a:pPr algn="l">
              <a:lnSpc>
                <a:spcPct val="100000"/>
              </a:lnSpc>
            </a:pPr>
            <a:r>
              <a:rPr sz="1000" b="1" i="0">
                <a:solidFill>
                  <a:srgbClr val="0B3D5C"/>
                </a:solidFill>
                <a:latin typeface="Calibri"/>
              </a:rPr>
              <a:t>Outliers: se tratan, no se eliminan</a:t>
            </a:r>
          </a:p>
        </p:txBody>
      </p:sp>
      <p:sp>
        <p:nvSpPr>
          <p:cNvPr id="13" name="TextBox 12"/>
          <p:cNvSpPr txBox="1"/>
          <p:nvPr/>
        </p:nvSpPr>
        <p:spPr>
          <a:xfrm>
            <a:off x="539496" y="3840480"/>
            <a:ext cx="2523744" cy="786384"/>
          </a:xfrm>
          <a:prstGeom prst="rect">
            <a:avLst/>
          </a:prstGeom>
          <a:noFill/>
        </p:spPr>
        <p:txBody>
          <a:bodyPr wrap="square" lIns="0" tIns="0" rIns="0" bIns="0" anchor="t">
            <a:spAutoFit/>
          </a:bodyPr>
          <a:lstStyle/>
          <a:p>
            <a:pPr algn="l">
              <a:lnSpc>
                <a:spcPct val="108000"/>
              </a:lnSpc>
            </a:pPr>
            <a:r>
              <a:rPr sz="800" b="0" i="0">
                <a:solidFill>
                  <a:srgbClr val="24292E"/>
                </a:solidFill>
                <a:latin typeface="Calibri"/>
              </a:rPr>
              <a:t>Son los pacientes de mayor riesgo. Winsorización al percentil 99 con el umbral calculado SOLO con train, no eliminación.</a:t>
            </a:r>
          </a:p>
        </p:txBody>
      </p:sp>
      <p:sp>
        <p:nvSpPr>
          <p:cNvPr id="14" name="Rectangle 13"/>
          <p:cNvSpPr/>
          <p:nvPr/>
        </p:nvSpPr>
        <p:spPr>
          <a:xfrm>
            <a:off x="3182112" y="3493008"/>
            <a:ext cx="2779776" cy="12252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310128" y="3584448"/>
            <a:ext cx="2523744" cy="237744"/>
          </a:xfrm>
          <a:prstGeom prst="rect">
            <a:avLst/>
          </a:prstGeom>
          <a:noFill/>
        </p:spPr>
        <p:txBody>
          <a:bodyPr wrap="square" lIns="0" tIns="0" rIns="0" bIns="0" anchor="t">
            <a:spAutoFit/>
          </a:bodyPr>
          <a:lstStyle/>
          <a:p>
            <a:pPr algn="l">
              <a:lnSpc>
                <a:spcPct val="100000"/>
              </a:lnSpc>
            </a:pPr>
            <a:r>
              <a:rPr sz="1000" b="1" i="0">
                <a:solidFill>
                  <a:srgbClr val="0B3D5C"/>
                </a:solidFill>
                <a:latin typeface="Calibri"/>
              </a:rPr>
              <a:t>Discretización por criterio clínico</a:t>
            </a:r>
          </a:p>
        </p:txBody>
      </p:sp>
      <p:sp>
        <p:nvSpPr>
          <p:cNvPr id="16" name="TextBox 15"/>
          <p:cNvSpPr txBox="1"/>
          <p:nvPr/>
        </p:nvSpPr>
        <p:spPr>
          <a:xfrm>
            <a:off x="3310128" y="3840480"/>
            <a:ext cx="2523744" cy="786384"/>
          </a:xfrm>
          <a:prstGeom prst="rect">
            <a:avLst/>
          </a:prstGeom>
          <a:noFill/>
        </p:spPr>
        <p:txBody>
          <a:bodyPr wrap="square" lIns="0" tIns="0" rIns="0" bIns="0" anchor="t">
            <a:spAutoFit/>
          </a:bodyPr>
          <a:lstStyle/>
          <a:p>
            <a:pPr algn="l">
              <a:lnSpc>
                <a:spcPct val="108000"/>
              </a:lnSpc>
            </a:pPr>
            <a:r>
              <a:rPr sz="800" b="0" i="0">
                <a:solidFill>
                  <a:srgbClr val="24292E"/>
                </a:solidFill>
                <a:latin typeface="Calibri"/>
              </a:rPr>
              <a:t>number_emergency y number_inpatient pasan a 0 / 1 / 2 / 3 o más. Los cortes son clínicos, no cuantiles, así que no dependen de la partición.</a:t>
            </a:r>
          </a:p>
        </p:txBody>
      </p:sp>
      <p:sp>
        <p:nvSpPr>
          <p:cNvPr id="17" name="Rectangle 16"/>
          <p:cNvSpPr/>
          <p:nvPr/>
        </p:nvSpPr>
        <p:spPr>
          <a:xfrm>
            <a:off x="5952744" y="3493008"/>
            <a:ext cx="2779776" cy="12252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080759" y="3584448"/>
            <a:ext cx="2523744" cy="237744"/>
          </a:xfrm>
          <a:prstGeom prst="rect">
            <a:avLst/>
          </a:prstGeom>
          <a:noFill/>
        </p:spPr>
        <p:txBody>
          <a:bodyPr wrap="square" lIns="0" tIns="0" rIns="0" bIns="0" anchor="t">
            <a:spAutoFit/>
          </a:bodyPr>
          <a:lstStyle/>
          <a:p>
            <a:pPr algn="l">
              <a:lnSpc>
                <a:spcPct val="100000"/>
              </a:lnSpc>
            </a:pPr>
            <a:r>
              <a:rPr sz="1000" b="1" i="0" dirty="0" err="1">
                <a:solidFill>
                  <a:srgbClr val="0B3D5C"/>
                </a:solidFill>
                <a:latin typeface="Calibri"/>
              </a:rPr>
              <a:t>patient_nbr_ordinal</a:t>
            </a:r>
            <a:endParaRPr sz="1000" b="1" i="0" dirty="0">
              <a:solidFill>
                <a:srgbClr val="0B3D5C"/>
              </a:solidFill>
              <a:latin typeface="Calibri"/>
            </a:endParaRPr>
          </a:p>
        </p:txBody>
      </p:sp>
      <p:sp>
        <p:nvSpPr>
          <p:cNvPr id="19" name="TextBox 18"/>
          <p:cNvSpPr txBox="1"/>
          <p:nvPr/>
        </p:nvSpPr>
        <p:spPr>
          <a:xfrm>
            <a:off x="6080759" y="3840480"/>
            <a:ext cx="2523744" cy="392800"/>
          </a:xfrm>
          <a:prstGeom prst="rect">
            <a:avLst/>
          </a:prstGeom>
          <a:noFill/>
        </p:spPr>
        <p:txBody>
          <a:bodyPr wrap="square" lIns="0" tIns="0" rIns="0" bIns="0" anchor="t">
            <a:spAutoFit/>
          </a:bodyPr>
          <a:lstStyle/>
          <a:p>
            <a:pPr algn="l">
              <a:lnSpc>
                <a:spcPct val="108000"/>
              </a:lnSpc>
            </a:pPr>
            <a:r>
              <a:rPr sz="800" b="0" i="0" dirty="0" err="1">
                <a:solidFill>
                  <a:srgbClr val="24292E"/>
                </a:solidFill>
                <a:latin typeface="Calibri"/>
              </a:rPr>
              <a:t>Cantidad</a:t>
            </a:r>
            <a:r>
              <a:rPr sz="800" b="0" i="0" dirty="0">
                <a:solidFill>
                  <a:srgbClr val="24292E"/>
                </a:solidFill>
                <a:latin typeface="Calibri"/>
              </a:rPr>
              <a:t> </a:t>
            </a:r>
            <a:r>
              <a:rPr sz="800" b="0" i="0" dirty="0" err="1">
                <a:solidFill>
                  <a:srgbClr val="24292E"/>
                </a:solidFill>
                <a:latin typeface="Calibri"/>
              </a:rPr>
              <a:t>de</a:t>
            </a:r>
            <a:r>
              <a:rPr lang="en-US" sz="800" dirty="0" err="1">
                <a:solidFill>
                  <a:srgbClr val="24292E"/>
                </a:solidFill>
                <a:latin typeface="Calibri"/>
              </a:rPr>
              <a:t>i</a:t>
            </a:r>
            <a:r>
              <a:rPr lang="en-US" sz="800" dirty="0">
                <a:solidFill>
                  <a:srgbClr val="24292E"/>
                </a:solidFill>
                <a:latin typeface="Calibri"/>
              </a:rPr>
              <a:t> </a:t>
            </a:r>
            <a:r>
              <a:rPr lang="en-US" sz="800" dirty="0" err="1">
                <a:solidFill>
                  <a:srgbClr val="24292E"/>
                </a:solidFill>
                <a:latin typeface="Calibri"/>
              </a:rPr>
              <a:t>nternaciones</a:t>
            </a:r>
            <a:r>
              <a:rPr sz="800" b="0" i="0" dirty="0">
                <a:solidFill>
                  <a:srgbClr val="24292E"/>
                </a:solidFill>
                <a:latin typeface="Calibri"/>
              </a:rPr>
              <a:t> de </a:t>
            </a:r>
            <a:r>
              <a:rPr sz="800" b="0" i="0" dirty="0" err="1">
                <a:solidFill>
                  <a:srgbClr val="24292E"/>
                </a:solidFill>
                <a:latin typeface="Calibri"/>
              </a:rPr>
              <a:t>cada</a:t>
            </a:r>
            <a:r>
              <a:rPr sz="800" b="0" i="0" dirty="0">
                <a:solidFill>
                  <a:srgbClr val="24292E"/>
                </a:solidFill>
                <a:latin typeface="Calibri"/>
              </a:rPr>
              <a:t> </a:t>
            </a:r>
            <a:r>
              <a:rPr sz="800" b="0" i="0" dirty="0" err="1">
                <a:solidFill>
                  <a:srgbClr val="24292E"/>
                </a:solidFill>
                <a:latin typeface="Calibri"/>
              </a:rPr>
              <a:t>paciente</a:t>
            </a:r>
            <a:r>
              <a:rPr sz="800" b="0" i="0" dirty="0">
                <a:solidFill>
                  <a:srgbClr val="24292E"/>
                </a:solidFill>
                <a:latin typeface="Calibri"/>
              </a:rPr>
              <a:t> (</a:t>
            </a:r>
            <a:r>
              <a:rPr sz="800" b="0" i="0" dirty="0" err="1">
                <a:solidFill>
                  <a:srgbClr val="24292E"/>
                </a:solidFill>
                <a:latin typeface="Calibri"/>
              </a:rPr>
              <a:t>nunca</a:t>
            </a:r>
            <a:r>
              <a:rPr sz="800" b="0" i="0" dirty="0">
                <a:solidFill>
                  <a:srgbClr val="24292E"/>
                </a:solidFill>
                <a:latin typeface="Calibri"/>
              </a:rPr>
              <a:t> </a:t>
            </a:r>
            <a:r>
              <a:rPr sz="800" b="0" i="0" dirty="0" err="1">
                <a:solidFill>
                  <a:srgbClr val="24292E"/>
                </a:solidFill>
                <a:latin typeface="Calibri"/>
              </a:rPr>
              <a:t>futuros</a:t>
            </a:r>
            <a:r>
              <a:rPr sz="800" b="0" i="0" dirty="0">
                <a:solidFill>
                  <a:srgbClr val="24292E"/>
                </a:solidFill>
                <a:latin typeface="Calibri"/>
              </a:rPr>
              <a:t>). Es </a:t>
            </a:r>
            <a:r>
              <a:rPr sz="800" b="0" i="0" dirty="0" err="1">
                <a:solidFill>
                  <a:srgbClr val="24292E"/>
                </a:solidFill>
                <a:latin typeface="Calibri"/>
              </a:rPr>
              <a:t>información</a:t>
            </a:r>
            <a:r>
              <a:rPr sz="800" b="0" i="0" dirty="0">
                <a:solidFill>
                  <a:srgbClr val="24292E"/>
                </a:solidFill>
                <a:latin typeface="Calibri"/>
              </a:rPr>
              <a:t> </a:t>
            </a:r>
            <a:r>
              <a:rPr sz="800" b="0" i="0" dirty="0" err="1">
                <a:solidFill>
                  <a:srgbClr val="24292E"/>
                </a:solidFill>
                <a:latin typeface="Calibri"/>
              </a:rPr>
              <a:t>que</a:t>
            </a:r>
            <a:r>
              <a:rPr sz="800" b="0" i="0" dirty="0">
                <a:solidFill>
                  <a:srgbClr val="24292E"/>
                </a:solidFill>
                <a:latin typeface="Calibri"/>
              </a:rPr>
              <a:t> no </a:t>
            </a:r>
            <a:r>
              <a:rPr sz="800" b="0" i="0" dirty="0" err="1">
                <a:solidFill>
                  <a:srgbClr val="24292E"/>
                </a:solidFill>
                <a:latin typeface="Calibri"/>
              </a:rPr>
              <a:t>existe</a:t>
            </a:r>
            <a:r>
              <a:rPr sz="800" b="0" i="0" dirty="0">
                <a:solidFill>
                  <a:srgbClr val="24292E"/>
                </a:solidFill>
                <a:latin typeface="Calibri"/>
              </a:rPr>
              <a:t> </a:t>
            </a:r>
            <a:r>
              <a:rPr sz="800" b="0" i="0" dirty="0" err="1">
                <a:solidFill>
                  <a:srgbClr val="24292E"/>
                </a:solidFill>
                <a:latin typeface="Calibri"/>
              </a:rPr>
              <a:t>en</a:t>
            </a:r>
            <a:r>
              <a:rPr sz="800" b="0" i="0" dirty="0">
                <a:solidFill>
                  <a:srgbClr val="24292E"/>
                </a:solidFill>
                <a:latin typeface="Calibri"/>
              </a:rPr>
              <a:t> </a:t>
            </a:r>
            <a:r>
              <a:rPr sz="800" b="0" i="0" dirty="0" err="1">
                <a:solidFill>
                  <a:srgbClr val="24292E"/>
                </a:solidFill>
                <a:latin typeface="Calibri"/>
              </a:rPr>
              <a:t>ninguna</a:t>
            </a:r>
            <a:r>
              <a:rPr sz="800" b="0" i="0" dirty="0">
                <a:solidFill>
                  <a:srgbClr val="24292E"/>
                </a:solidFill>
                <a:latin typeface="Calibri"/>
              </a:rPr>
              <a:t> columna: se </a:t>
            </a:r>
            <a:r>
              <a:rPr sz="800" b="0" i="0" dirty="0" err="1">
                <a:solidFill>
                  <a:srgbClr val="24292E"/>
                </a:solidFill>
                <a:latin typeface="Calibri"/>
              </a:rPr>
              <a:t>deriva</a:t>
            </a:r>
            <a:r>
              <a:rPr sz="800" b="0" i="0" dirty="0">
                <a:solidFill>
                  <a:srgbClr val="24292E"/>
                </a:solidFill>
                <a:latin typeface="Calibri"/>
              </a:rPr>
              <a:t> </a:t>
            </a:r>
            <a:r>
              <a:rPr sz="800" b="0" i="0" dirty="0" err="1">
                <a:solidFill>
                  <a:srgbClr val="24292E"/>
                </a:solidFill>
                <a:latin typeface="Calibri"/>
              </a:rPr>
              <a:t>agrupando</a:t>
            </a:r>
            <a:r>
              <a:rPr sz="800" b="0" i="0" dirty="0">
                <a:solidFill>
                  <a:srgbClr val="24292E"/>
                </a:solidFill>
                <a:latin typeface="Calibri"/>
              </a:rPr>
              <a:t> </a:t>
            </a:r>
            <a:r>
              <a:rPr sz="800" b="0" i="0" dirty="0" err="1">
                <a:solidFill>
                  <a:srgbClr val="24292E"/>
                </a:solidFill>
                <a:latin typeface="Calibri"/>
              </a:rPr>
              <a:t>por</a:t>
            </a:r>
            <a:r>
              <a:rPr sz="800" b="0" i="0" dirty="0">
                <a:solidFill>
                  <a:srgbClr val="24292E"/>
                </a:solidFill>
                <a:latin typeface="Calibri"/>
              </a:rPr>
              <a:t> </a:t>
            </a:r>
            <a:r>
              <a:rPr sz="800" b="0" i="0" dirty="0" err="1">
                <a:solidFill>
                  <a:srgbClr val="24292E"/>
                </a:solidFill>
                <a:latin typeface="Calibri"/>
              </a:rPr>
              <a:t>paciente</a:t>
            </a:r>
            <a:r>
              <a:rPr sz="800" b="0" i="0" dirty="0">
                <a:solidFill>
                  <a:srgbClr val="24292E"/>
                </a:solidFill>
                <a:latin typeface="Calibri"/>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par>
                          <p:cTn id="8" fill="hold">
                            <p:stCondLst>
                              <p:cond delay="0"/>
                            </p:stCondLst>
                            <p:childTnLst>
                              <p:par>
                                <p:cTn id="9" presetID="9" presetClass="exit" presetSubtype="0" fill="hold" nodeType="withEffect">
                                  <p:stCondLst>
                                    <p:cond delay="0"/>
                                  </p:stCondLst>
                                  <p:childTnLst>
                                    <p:set>
                                      <p:cBhvr>
                                        <p:cTn id="10" dur="1" fill="hold">
                                          <p:stCondLst>
                                            <p:cond delay="500"/>
                                          </p:stCondLst>
                                        </p:cTn>
                                        <p:tgtEl>
                                          <p:spTgt spid="22"/>
                                        </p:tgtEl>
                                        <p:attrNameLst>
                                          <p:attrName>style.visibility</p:attrName>
                                        </p:attrNameLst>
                                      </p:cBhvr>
                                      <p:to>
                                        <p:strVal val="hidden"/>
                                      </p:to>
                                    </p:set>
                                    <p:animEffect transition="out" filter="dissolve">
                                      <p:cBhvr>
                                        <p:cTn id="11"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74904" y="182880"/>
            <a:ext cx="7315200" cy="219456"/>
          </a:xfrm>
          <a:prstGeom prst="rect">
            <a:avLst/>
          </a:prstGeom>
          <a:noFill/>
        </p:spPr>
        <p:txBody>
          <a:bodyPr wrap="square" lIns="0" tIns="0" rIns="0" bIns="0" anchor="t">
            <a:spAutoFit/>
          </a:bodyPr>
          <a:lstStyle/>
          <a:p>
            <a:pPr algn="l">
              <a:lnSpc>
                <a:spcPct val="100000"/>
              </a:lnSpc>
            </a:pPr>
            <a:r>
              <a:rPr sz="900" b="1" i="0">
                <a:solidFill>
                  <a:srgbClr val="1C7293"/>
                </a:solidFill>
                <a:latin typeface="Calibri"/>
              </a:rPr>
              <a:t>05 · SELECCIÓN DE VARIABLES — ANTES DE CODIFICAR</a:t>
            </a:r>
          </a:p>
        </p:txBody>
      </p:sp>
      <p:sp>
        <p:nvSpPr>
          <p:cNvPr id="3" name="TextBox 2"/>
          <p:cNvSpPr txBox="1"/>
          <p:nvPr/>
        </p:nvSpPr>
        <p:spPr>
          <a:xfrm>
            <a:off x="237743" y="347101"/>
            <a:ext cx="8366760" cy="457200"/>
          </a:xfrm>
          <a:prstGeom prst="rect">
            <a:avLst/>
          </a:prstGeom>
          <a:noFill/>
        </p:spPr>
        <p:txBody>
          <a:bodyPr wrap="square" lIns="0" tIns="0" rIns="0" bIns="0" anchor="t">
            <a:spAutoFit/>
          </a:bodyPr>
          <a:lstStyle/>
          <a:p>
            <a:pPr algn="l">
              <a:lnSpc>
                <a:spcPct val="100000"/>
              </a:lnSpc>
            </a:pPr>
            <a:r>
              <a:rPr sz="2000" b="1" i="0" dirty="0" err="1">
                <a:solidFill>
                  <a:srgbClr val="0B3D5C"/>
                </a:solidFill>
                <a:latin typeface="Calibri"/>
              </a:rPr>
              <a:t>Relevancia</a:t>
            </a:r>
            <a:r>
              <a:rPr sz="2000" b="1" i="0" dirty="0">
                <a:solidFill>
                  <a:srgbClr val="0B3D5C"/>
                </a:solidFill>
                <a:latin typeface="Calibri"/>
              </a:rPr>
              <a:t> y </a:t>
            </a:r>
            <a:r>
              <a:rPr sz="2000" b="1" i="0" dirty="0" err="1">
                <a:solidFill>
                  <a:srgbClr val="0B3D5C"/>
                </a:solidFill>
                <a:latin typeface="Calibri"/>
              </a:rPr>
              <a:t>redundancia</a:t>
            </a:r>
            <a:r>
              <a:rPr sz="2000" b="1" i="0" dirty="0">
                <a:solidFill>
                  <a:srgbClr val="0B3D5C"/>
                </a:solidFill>
                <a:latin typeface="Calibri"/>
              </a:rPr>
              <a:t> </a:t>
            </a:r>
            <a:r>
              <a:rPr sz="2000" b="1" i="0" dirty="0" err="1">
                <a:solidFill>
                  <a:srgbClr val="0B3D5C"/>
                </a:solidFill>
                <a:latin typeface="Calibri"/>
              </a:rPr>
              <a:t>sobre</a:t>
            </a:r>
            <a:r>
              <a:rPr sz="2000" b="1" i="0" dirty="0">
                <a:solidFill>
                  <a:srgbClr val="0B3D5C"/>
                </a:solidFill>
                <a:latin typeface="Calibri"/>
              </a:rPr>
              <a:t> las variables </a:t>
            </a:r>
            <a:r>
              <a:rPr sz="2000" b="1" i="0" dirty="0" err="1">
                <a:solidFill>
                  <a:srgbClr val="0B3D5C"/>
                </a:solidFill>
                <a:latin typeface="Calibri"/>
              </a:rPr>
              <a:t>originales</a:t>
            </a:r>
            <a:endParaRPr sz="2000" b="1" i="0" dirty="0">
              <a:solidFill>
                <a:srgbClr val="0B3D5C"/>
              </a:solidFill>
              <a:latin typeface="Calibri"/>
            </a:endParaRPr>
          </a:p>
        </p:txBody>
      </p:sp>
      <p:sp>
        <p:nvSpPr>
          <p:cNvPr id="4" name="TextBox 3"/>
          <p:cNvSpPr txBox="1"/>
          <p:nvPr/>
        </p:nvSpPr>
        <p:spPr>
          <a:xfrm>
            <a:off x="347472" y="4846320"/>
            <a:ext cx="5486400" cy="201168"/>
          </a:xfrm>
          <a:prstGeom prst="rect">
            <a:avLst/>
          </a:prstGeom>
          <a:noFill/>
        </p:spPr>
        <p:txBody>
          <a:bodyPr wrap="square" lIns="0" tIns="0" rIns="0" bIns="0" anchor="t">
            <a:spAutoFit/>
          </a:bodyPr>
          <a:lstStyle/>
          <a:p>
            <a:pPr algn="l">
              <a:lnSpc>
                <a:spcPct val="100000"/>
              </a:lnSpc>
            </a:pPr>
            <a:r>
              <a:rPr sz="700" b="0" i="0">
                <a:solidFill>
                  <a:srgbClr val="AAB4BD"/>
                </a:solidFill>
                <a:latin typeface="Calibri"/>
              </a:rPr>
              <a:t>Diabetes 130-US Hospitals — Reingreso Hospitalario</a:t>
            </a:r>
          </a:p>
        </p:txBody>
      </p:sp>
      <p:sp>
        <p:nvSpPr>
          <p:cNvPr id="5" name="TextBox 4"/>
          <p:cNvSpPr txBox="1"/>
          <p:nvPr/>
        </p:nvSpPr>
        <p:spPr>
          <a:xfrm>
            <a:off x="8138160" y="4846320"/>
            <a:ext cx="658368" cy="201168"/>
          </a:xfrm>
          <a:prstGeom prst="rect">
            <a:avLst/>
          </a:prstGeom>
          <a:noFill/>
        </p:spPr>
        <p:txBody>
          <a:bodyPr wrap="square" lIns="0" tIns="0" rIns="0" bIns="0" anchor="t">
            <a:spAutoFit/>
          </a:bodyPr>
          <a:lstStyle/>
          <a:p>
            <a:pPr algn="r">
              <a:lnSpc>
                <a:spcPct val="100000"/>
              </a:lnSpc>
            </a:pPr>
            <a:r>
              <a:rPr sz="700" b="0" i="0">
                <a:solidFill>
                  <a:srgbClr val="AAB4BD"/>
                </a:solidFill>
                <a:latin typeface="Calibri"/>
              </a:rPr>
              <a:t>6 / 8</a:t>
            </a:r>
          </a:p>
        </p:txBody>
      </p:sp>
      <p:pic>
        <p:nvPicPr>
          <p:cNvPr id="28" name="Imagen 27">
            <a:extLst>
              <a:ext uri="{FF2B5EF4-FFF2-40B4-BE49-F238E27FC236}">
                <a16:creationId xmlns:a16="http://schemas.microsoft.com/office/drawing/2014/main" id="{1B898EB2-3142-3282-CE4F-66E79BA5F613}"/>
              </a:ext>
            </a:extLst>
          </p:cNvPr>
          <p:cNvPicPr>
            <a:picLocks noChangeAspect="1"/>
          </p:cNvPicPr>
          <p:nvPr/>
        </p:nvPicPr>
        <p:blipFill>
          <a:blip r:embed="rId2"/>
          <a:stretch>
            <a:fillRect/>
          </a:stretch>
        </p:blipFill>
        <p:spPr>
          <a:xfrm>
            <a:off x="633327" y="1418434"/>
            <a:ext cx="4651236" cy="2681495"/>
          </a:xfrm>
          <a:prstGeom prst="rect">
            <a:avLst/>
          </a:prstGeom>
        </p:spPr>
      </p:pic>
      <p:sp>
        <p:nvSpPr>
          <p:cNvPr id="17" name="Rectangle 16"/>
          <p:cNvSpPr/>
          <p:nvPr/>
        </p:nvSpPr>
        <p:spPr>
          <a:xfrm>
            <a:off x="5952744" y="3971914"/>
            <a:ext cx="2779776" cy="746390"/>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079830" y="3991763"/>
            <a:ext cx="2523744" cy="153888"/>
          </a:xfrm>
          <a:prstGeom prst="rect">
            <a:avLst/>
          </a:prstGeom>
          <a:noFill/>
        </p:spPr>
        <p:txBody>
          <a:bodyPr wrap="square" lIns="0" tIns="0" rIns="0" bIns="0" anchor="t">
            <a:spAutoFit/>
          </a:bodyPr>
          <a:lstStyle/>
          <a:p>
            <a:pPr algn="l">
              <a:lnSpc>
                <a:spcPct val="100000"/>
              </a:lnSpc>
            </a:pPr>
            <a:r>
              <a:rPr lang="en-US" sz="1000" b="1" i="0" dirty="0">
                <a:solidFill>
                  <a:srgbClr val="0B3D5C"/>
                </a:solidFill>
                <a:latin typeface="Calibri"/>
              </a:rPr>
              <a:t>18 </a:t>
            </a:r>
            <a:r>
              <a:rPr lang="en-US" sz="1000" b="1" i="0" dirty="0" err="1">
                <a:solidFill>
                  <a:srgbClr val="0B3D5C"/>
                </a:solidFill>
                <a:latin typeface="Calibri"/>
              </a:rPr>
              <a:t>candidatas</a:t>
            </a:r>
            <a:endParaRPr sz="1000" b="1" i="0" dirty="0">
              <a:solidFill>
                <a:srgbClr val="0B3D5C"/>
              </a:solidFill>
              <a:latin typeface="Calibri"/>
            </a:endParaRPr>
          </a:p>
        </p:txBody>
      </p:sp>
      <p:sp>
        <p:nvSpPr>
          <p:cNvPr id="19" name="TextBox 18"/>
          <p:cNvSpPr txBox="1"/>
          <p:nvPr/>
        </p:nvSpPr>
        <p:spPr>
          <a:xfrm>
            <a:off x="6079830" y="4209659"/>
            <a:ext cx="2523744" cy="392800"/>
          </a:xfrm>
          <a:prstGeom prst="rect">
            <a:avLst/>
          </a:prstGeom>
          <a:noFill/>
        </p:spPr>
        <p:txBody>
          <a:bodyPr wrap="square" lIns="0" tIns="0" rIns="0" bIns="0" anchor="t">
            <a:spAutoFit/>
          </a:bodyPr>
          <a:lstStyle/>
          <a:p>
            <a:pPr algn="l">
              <a:lnSpc>
                <a:spcPct val="108000"/>
              </a:lnSpc>
            </a:pPr>
            <a:r>
              <a:rPr sz="800" b="0" i="0" dirty="0">
                <a:solidFill>
                  <a:srgbClr val="24292E"/>
                </a:solidFill>
                <a:latin typeface="Calibri"/>
              </a:rPr>
              <a:t>−10 </a:t>
            </a:r>
            <a:r>
              <a:rPr sz="800" b="0" i="0" dirty="0" err="1">
                <a:solidFill>
                  <a:srgbClr val="24292E"/>
                </a:solidFill>
                <a:latin typeface="Calibri"/>
              </a:rPr>
              <a:t>por</a:t>
            </a:r>
            <a:r>
              <a:rPr sz="800" b="0" i="0" dirty="0">
                <a:solidFill>
                  <a:srgbClr val="24292E"/>
                </a:solidFill>
                <a:latin typeface="Calibri"/>
              </a:rPr>
              <a:t> baja </a:t>
            </a:r>
            <a:r>
              <a:rPr sz="800" b="0" i="0" dirty="0" err="1">
                <a:solidFill>
                  <a:srgbClr val="24292E"/>
                </a:solidFill>
                <a:latin typeface="Calibri"/>
              </a:rPr>
              <a:t>relevancia</a:t>
            </a:r>
            <a:r>
              <a:rPr sz="800" b="0" i="0" dirty="0">
                <a:solidFill>
                  <a:srgbClr val="24292E"/>
                </a:solidFill>
                <a:latin typeface="Calibri"/>
              </a:rPr>
              <a:t> (tercio inferior </a:t>
            </a:r>
            <a:r>
              <a:rPr sz="800" b="0" i="0" dirty="0" err="1">
                <a:solidFill>
                  <a:srgbClr val="24292E"/>
                </a:solidFill>
                <a:latin typeface="Calibri"/>
              </a:rPr>
              <a:t>en</a:t>
            </a:r>
            <a:r>
              <a:rPr sz="800" b="0" i="0" dirty="0">
                <a:solidFill>
                  <a:srgbClr val="24292E"/>
                </a:solidFill>
                <a:latin typeface="Calibri"/>
              </a:rPr>
              <a:t> ambos </a:t>
            </a:r>
            <a:r>
              <a:rPr sz="800" b="0" i="0" dirty="0" err="1">
                <a:solidFill>
                  <a:srgbClr val="24292E"/>
                </a:solidFill>
                <a:latin typeface="Calibri"/>
              </a:rPr>
              <a:t>criterios</a:t>
            </a:r>
            <a:r>
              <a:rPr sz="800" b="0" i="0" dirty="0">
                <a:solidFill>
                  <a:srgbClr val="24292E"/>
                </a:solidFill>
                <a:latin typeface="Calibri"/>
              </a:rPr>
              <a:t>) · −2 </a:t>
            </a:r>
            <a:r>
              <a:rPr sz="800" b="0" i="0" dirty="0" err="1">
                <a:solidFill>
                  <a:srgbClr val="24292E"/>
                </a:solidFill>
                <a:latin typeface="Calibri"/>
              </a:rPr>
              <a:t>por</a:t>
            </a:r>
            <a:r>
              <a:rPr sz="800" b="0" i="0" dirty="0">
                <a:solidFill>
                  <a:srgbClr val="24292E"/>
                </a:solidFill>
                <a:latin typeface="Calibri"/>
              </a:rPr>
              <a:t> </a:t>
            </a:r>
            <a:r>
              <a:rPr sz="800" b="0" i="0" dirty="0" err="1">
                <a:solidFill>
                  <a:srgbClr val="24292E"/>
                </a:solidFill>
                <a:latin typeface="Calibri"/>
              </a:rPr>
              <a:t>redundancia</a:t>
            </a:r>
            <a:r>
              <a:rPr sz="800" b="0" i="0" dirty="0">
                <a:solidFill>
                  <a:srgbClr val="24292E"/>
                </a:solidFill>
                <a:latin typeface="Calibri"/>
              </a:rPr>
              <a:t> (change y </a:t>
            </a:r>
            <a:r>
              <a:rPr sz="800" b="0" i="0" dirty="0" err="1">
                <a:solidFill>
                  <a:srgbClr val="24292E"/>
                </a:solidFill>
                <a:latin typeface="Calibri"/>
              </a:rPr>
              <a:t>diabetesMed</a:t>
            </a:r>
            <a:r>
              <a:rPr sz="800" b="0" i="0" dirty="0">
                <a:solidFill>
                  <a:srgbClr val="24292E"/>
                </a:solidFill>
                <a:latin typeface="Calibri"/>
              </a:rPr>
              <a:t>) · </a:t>
            </a:r>
            <a:endParaRPr lang="en-US" sz="800" b="0" i="0" dirty="0">
              <a:solidFill>
                <a:srgbClr val="24292E"/>
              </a:solidFill>
              <a:latin typeface="Calibri"/>
            </a:endParaRPr>
          </a:p>
          <a:p>
            <a:pPr algn="l">
              <a:lnSpc>
                <a:spcPct val="108000"/>
              </a:lnSpc>
            </a:pPr>
            <a:r>
              <a:rPr sz="800" b="0" i="0" dirty="0">
                <a:solidFill>
                  <a:srgbClr val="24292E"/>
                </a:solidFill>
                <a:latin typeface="Calibri"/>
              </a:rPr>
              <a:t>−2 </a:t>
            </a:r>
            <a:r>
              <a:rPr sz="800" b="0" i="0" dirty="0" err="1">
                <a:solidFill>
                  <a:srgbClr val="24292E"/>
                </a:solidFill>
                <a:latin typeface="Calibri"/>
              </a:rPr>
              <a:t>reemplazadas</a:t>
            </a:r>
            <a:r>
              <a:rPr sz="800" b="0" i="0" dirty="0">
                <a:solidFill>
                  <a:srgbClr val="24292E"/>
                </a:solidFill>
                <a:latin typeface="Calibri"/>
              </a:rPr>
              <a:t> </a:t>
            </a:r>
            <a:r>
              <a:rPr sz="800" b="0" i="0" dirty="0" err="1">
                <a:solidFill>
                  <a:srgbClr val="24292E"/>
                </a:solidFill>
                <a:latin typeface="Calibri"/>
              </a:rPr>
              <a:t>por</a:t>
            </a:r>
            <a:r>
              <a:rPr sz="800" b="0" i="0" dirty="0">
                <a:solidFill>
                  <a:srgbClr val="24292E"/>
                </a:solidFill>
                <a:latin typeface="Calibri"/>
              </a:rPr>
              <a:t> </a:t>
            </a:r>
            <a:r>
              <a:rPr sz="800" b="0" i="0" dirty="0" err="1">
                <a:solidFill>
                  <a:srgbClr val="24292E"/>
                </a:solidFill>
                <a:latin typeface="Calibri"/>
              </a:rPr>
              <a:t>su</a:t>
            </a:r>
            <a:r>
              <a:rPr sz="800" b="0" i="0" dirty="0">
                <a:solidFill>
                  <a:srgbClr val="24292E"/>
                </a:solidFill>
                <a:latin typeface="Calibri"/>
              </a:rPr>
              <a:t> </a:t>
            </a:r>
            <a:r>
              <a:rPr sz="800" b="0" i="0" dirty="0" err="1">
                <a:solidFill>
                  <a:srgbClr val="24292E"/>
                </a:solidFill>
                <a:latin typeface="Calibri"/>
              </a:rPr>
              <a:t>versión</a:t>
            </a:r>
            <a:r>
              <a:rPr sz="800" b="0" i="0" dirty="0">
                <a:solidFill>
                  <a:srgbClr val="24292E"/>
                </a:solidFill>
                <a:latin typeface="Calibri"/>
              </a:rPr>
              <a:t> </a:t>
            </a:r>
            <a:r>
              <a:rPr sz="800" b="0" i="0" dirty="0" err="1">
                <a:solidFill>
                  <a:srgbClr val="24292E"/>
                </a:solidFill>
                <a:latin typeface="Calibri"/>
              </a:rPr>
              <a:t>discretizada</a:t>
            </a:r>
            <a:r>
              <a:rPr sz="800" b="0" i="0" dirty="0">
                <a:solidFill>
                  <a:srgbClr val="24292E"/>
                </a:solidFill>
                <a:latin typeface="Calibri"/>
              </a:rPr>
              <a:t>.</a:t>
            </a:r>
          </a:p>
        </p:txBody>
      </p:sp>
      <p:pic>
        <p:nvPicPr>
          <p:cNvPr id="21" name="Imagen 20">
            <a:extLst>
              <a:ext uri="{FF2B5EF4-FFF2-40B4-BE49-F238E27FC236}">
                <a16:creationId xmlns:a16="http://schemas.microsoft.com/office/drawing/2014/main" id="{D669518F-B49C-1A28-5FB1-814539480AF5}"/>
              </a:ext>
            </a:extLst>
          </p:cNvPr>
          <p:cNvPicPr>
            <a:picLocks noChangeAspect="1"/>
          </p:cNvPicPr>
          <p:nvPr/>
        </p:nvPicPr>
        <p:blipFill>
          <a:blip r:embed="rId3"/>
          <a:stretch>
            <a:fillRect/>
          </a:stretch>
        </p:blipFill>
        <p:spPr>
          <a:xfrm>
            <a:off x="5961888" y="0"/>
            <a:ext cx="3049931" cy="4777740"/>
          </a:xfrm>
          <a:prstGeom prst="rect">
            <a:avLst/>
          </a:prstGeom>
        </p:spPr>
      </p:pic>
      <p:pic>
        <p:nvPicPr>
          <p:cNvPr id="24" name="Imagen 23">
            <a:extLst>
              <a:ext uri="{FF2B5EF4-FFF2-40B4-BE49-F238E27FC236}">
                <a16:creationId xmlns:a16="http://schemas.microsoft.com/office/drawing/2014/main" id="{381C3705-4DF5-38AD-C1EE-07331CF1E91A}"/>
              </a:ext>
            </a:extLst>
          </p:cNvPr>
          <p:cNvPicPr>
            <a:picLocks noChangeAspect="1"/>
          </p:cNvPicPr>
          <p:nvPr/>
        </p:nvPicPr>
        <p:blipFill>
          <a:blip r:embed="rId4"/>
          <a:stretch>
            <a:fillRect/>
          </a:stretch>
        </p:blipFill>
        <p:spPr>
          <a:xfrm>
            <a:off x="5700460" y="1051560"/>
            <a:ext cx="3443540" cy="2824307"/>
          </a:xfrm>
          <a:prstGeom prst="rect">
            <a:avLst/>
          </a:prstGeom>
        </p:spPr>
      </p:pic>
      <p:sp>
        <p:nvSpPr>
          <p:cNvPr id="6" name="Rectangle 5"/>
          <p:cNvSpPr/>
          <p:nvPr/>
        </p:nvSpPr>
        <p:spPr>
          <a:xfrm>
            <a:off x="415928" y="691688"/>
            <a:ext cx="5294624" cy="809244"/>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1794" y="1024128"/>
            <a:ext cx="4823418" cy="430374"/>
          </a:xfrm>
          <a:prstGeom prst="rect">
            <a:avLst/>
          </a:prstGeom>
          <a:noFill/>
        </p:spPr>
        <p:txBody>
          <a:bodyPr wrap="square" lIns="0" tIns="0" rIns="0" bIns="0" anchor="t">
            <a:spAutoFit/>
          </a:bodyPr>
          <a:lstStyle/>
          <a:p>
            <a:pPr algn="l">
              <a:lnSpc>
                <a:spcPct val="105000"/>
              </a:lnSpc>
            </a:pPr>
            <a:r>
              <a:rPr sz="900" b="0" i="0" dirty="0" err="1">
                <a:solidFill>
                  <a:srgbClr val="FFFFFF"/>
                </a:solidFill>
                <a:latin typeface="Calibri"/>
              </a:rPr>
              <a:t>Así</a:t>
            </a:r>
            <a:r>
              <a:rPr sz="900" b="0" i="0" dirty="0">
                <a:solidFill>
                  <a:srgbClr val="FFFFFF"/>
                </a:solidFill>
                <a:latin typeface="Calibri"/>
              </a:rPr>
              <a:t> Chi² se </a:t>
            </a:r>
            <a:r>
              <a:rPr sz="900" b="0" i="0" dirty="0" err="1">
                <a:solidFill>
                  <a:srgbClr val="FFFFFF"/>
                </a:solidFill>
                <a:latin typeface="Calibri"/>
              </a:rPr>
              <a:t>calcula</a:t>
            </a:r>
            <a:r>
              <a:rPr sz="900" b="0" i="0" dirty="0">
                <a:solidFill>
                  <a:srgbClr val="FFFFFF"/>
                </a:solidFill>
                <a:latin typeface="Calibri"/>
              </a:rPr>
              <a:t> </a:t>
            </a:r>
            <a:r>
              <a:rPr sz="900" b="0" i="0" dirty="0" err="1">
                <a:solidFill>
                  <a:srgbClr val="FFFFFF"/>
                </a:solidFill>
                <a:latin typeface="Calibri"/>
              </a:rPr>
              <a:t>sobre</a:t>
            </a:r>
            <a:r>
              <a:rPr sz="900" b="0" i="0" dirty="0">
                <a:solidFill>
                  <a:srgbClr val="FFFFFF"/>
                </a:solidFill>
                <a:latin typeface="Calibri"/>
              </a:rPr>
              <a:t> </a:t>
            </a:r>
            <a:r>
              <a:rPr sz="900" b="0" i="0" dirty="0" err="1">
                <a:solidFill>
                  <a:srgbClr val="FFFFFF"/>
                </a:solidFill>
                <a:latin typeface="Calibri"/>
              </a:rPr>
              <a:t>tablas</a:t>
            </a:r>
            <a:r>
              <a:rPr sz="900" b="0" i="0" dirty="0">
                <a:solidFill>
                  <a:srgbClr val="FFFFFF"/>
                </a:solidFill>
                <a:latin typeface="Calibri"/>
              </a:rPr>
              <a:t> de </a:t>
            </a:r>
            <a:r>
              <a:rPr sz="900" b="0" i="0" dirty="0" err="1">
                <a:solidFill>
                  <a:srgbClr val="FFFFFF"/>
                </a:solidFill>
                <a:latin typeface="Calibri"/>
              </a:rPr>
              <a:t>contingencia</a:t>
            </a:r>
            <a:r>
              <a:rPr sz="900" b="0" i="0" dirty="0">
                <a:solidFill>
                  <a:srgbClr val="FFFFFF"/>
                </a:solidFill>
                <a:latin typeface="Calibri"/>
              </a:rPr>
              <a:t> reales y </a:t>
            </a:r>
            <a:r>
              <a:rPr sz="900" b="0" i="0" dirty="0" err="1">
                <a:solidFill>
                  <a:srgbClr val="FFFFFF"/>
                </a:solidFill>
                <a:latin typeface="Calibri"/>
              </a:rPr>
              <a:t>cada</a:t>
            </a:r>
            <a:r>
              <a:rPr sz="900" b="0" i="0" dirty="0">
                <a:solidFill>
                  <a:srgbClr val="FFFFFF"/>
                </a:solidFill>
                <a:latin typeface="Calibri"/>
              </a:rPr>
              <a:t> </a:t>
            </a:r>
            <a:r>
              <a:rPr sz="900" b="0" i="0" dirty="0" err="1">
                <a:solidFill>
                  <a:srgbClr val="FFFFFF"/>
                </a:solidFill>
                <a:latin typeface="Calibri"/>
              </a:rPr>
              <a:t>criterio</a:t>
            </a:r>
            <a:r>
              <a:rPr sz="900" b="0" i="0" dirty="0">
                <a:solidFill>
                  <a:srgbClr val="FFFFFF"/>
                </a:solidFill>
                <a:latin typeface="Calibri"/>
              </a:rPr>
              <a:t> se </a:t>
            </a:r>
            <a:r>
              <a:rPr sz="900" b="0" i="0" dirty="0" err="1">
                <a:solidFill>
                  <a:srgbClr val="FFFFFF"/>
                </a:solidFill>
                <a:latin typeface="Calibri"/>
              </a:rPr>
              <a:t>aplica</a:t>
            </a:r>
            <a:r>
              <a:rPr sz="900" b="0" i="0" dirty="0">
                <a:solidFill>
                  <a:srgbClr val="FFFFFF"/>
                </a:solidFill>
                <a:latin typeface="Calibri"/>
              </a:rPr>
              <a:t> al </a:t>
            </a:r>
            <a:r>
              <a:rPr sz="900" b="0" i="0" dirty="0" err="1">
                <a:solidFill>
                  <a:srgbClr val="FFFFFF"/>
                </a:solidFill>
                <a:latin typeface="Calibri"/>
              </a:rPr>
              <a:t>tipo</a:t>
            </a:r>
            <a:r>
              <a:rPr sz="900" b="0" i="0" dirty="0">
                <a:solidFill>
                  <a:srgbClr val="FFFFFF"/>
                </a:solidFill>
                <a:latin typeface="Calibri"/>
              </a:rPr>
              <a:t> de variable </a:t>
            </a:r>
            <a:r>
              <a:rPr sz="900" b="0" i="0" dirty="0" err="1">
                <a:solidFill>
                  <a:srgbClr val="FFFFFF"/>
                </a:solidFill>
                <a:latin typeface="Calibri"/>
              </a:rPr>
              <a:t>que</a:t>
            </a:r>
            <a:r>
              <a:rPr sz="900" b="0" i="0" dirty="0">
                <a:solidFill>
                  <a:srgbClr val="FFFFFF"/>
                </a:solidFill>
                <a:latin typeface="Calibri"/>
              </a:rPr>
              <a:t> le </a:t>
            </a:r>
            <a:r>
              <a:rPr sz="900" b="0" i="0" dirty="0" err="1">
                <a:solidFill>
                  <a:srgbClr val="FFFFFF"/>
                </a:solidFill>
                <a:latin typeface="Calibri"/>
              </a:rPr>
              <a:t>corresponde</a:t>
            </a:r>
            <a:r>
              <a:rPr sz="900" b="0" i="0" dirty="0">
                <a:solidFill>
                  <a:srgbClr val="FFFFFF"/>
                </a:solidFill>
                <a:latin typeface="Calibri"/>
              </a:rPr>
              <a:t>. </a:t>
            </a:r>
            <a:r>
              <a:rPr sz="900" b="0" i="0" dirty="0" err="1">
                <a:solidFill>
                  <a:srgbClr val="FFFFFF"/>
                </a:solidFill>
                <a:latin typeface="Calibri"/>
              </a:rPr>
              <a:t>Además</a:t>
            </a:r>
            <a:r>
              <a:rPr sz="900" b="0" i="0" dirty="0">
                <a:solidFill>
                  <a:srgbClr val="FFFFFF"/>
                </a:solidFill>
                <a:latin typeface="Calibri"/>
              </a:rPr>
              <a:t> la </a:t>
            </a:r>
            <a:r>
              <a:rPr sz="900" b="0" i="0" dirty="0" err="1">
                <a:solidFill>
                  <a:srgbClr val="FFFFFF"/>
                </a:solidFill>
                <a:latin typeface="Calibri"/>
              </a:rPr>
              <a:t>unidad</a:t>
            </a:r>
            <a:r>
              <a:rPr sz="900" b="0" i="0" dirty="0">
                <a:solidFill>
                  <a:srgbClr val="FFFFFF"/>
                </a:solidFill>
                <a:latin typeface="Calibri"/>
              </a:rPr>
              <a:t> de </a:t>
            </a:r>
            <a:r>
              <a:rPr sz="900" b="0" i="0" dirty="0" err="1">
                <a:solidFill>
                  <a:srgbClr val="FFFFFF"/>
                </a:solidFill>
                <a:latin typeface="Calibri"/>
              </a:rPr>
              <a:t>decisión</a:t>
            </a:r>
            <a:r>
              <a:rPr sz="900" b="0" i="0" dirty="0">
                <a:solidFill>
                  <a:srgbClr val="FFFFFF"/>
                </a:solidFill>
                <a:latin typeface="Calibri"/>
              </a:rPr>
              <a:t> es la VARIABLE, no </a:t>
            </a:r>
            <a:r>
              <a:rPr sz="900" b="0" i="0" dirty="0" err="1">
                <a:solidFill>
                  <a:srgbClr val="FFFFFF"/>
                </a:solidFill>
                <a:latin typeface="Calibri"/>
              </a:rPr>
              <a:t>una</a:t>
            </a:r>
            <a:r>
              <a:rPr sz="900" b="0" i="0" dirty="0">
                <a:solidFill>
                  <a:srgbClr val="FFFFFF"/>
                </a:solidFill>
                <a:latin typeface="Calibri"/>
              </a:rPr>
              <a:t> dummy </a:t>
            </a:r>
            <a:r>
              <a:rPr sz="900" b="0" i="0" dirty="0" err="1">
                <a:solidFill>
                  <a:srgbClr val="FFFFFF"/>
                </a:solidFill>
                <a:latin typeface="Calibri"/>
              </a:rPr>
              <a:t>suelta</a:t>
            </a:r>
            <a:r>
              <a:rPr sz="900" b="0" i="0" dirty="0">
                <a:solidFill>
                  <a:srgbClr val="FFFFFF"/>
                </a:solidFill>
                <a:latin typeface="Calibri"/>
              </a:rPr>
              <a:t>: se </a:t>
            </a:r>
            <a:r>
              <a:rPr sz="900" b="0" i="0" dirty="0" err="1">
                <a:solidFill>
                  <a:srgbClr val="FFFFFF"/>
                </a:solidFill>
                <a:latin typeface="Calibri"/>
              </a:rPr>
              <a:t>acepta</a:t>
            </a:r>
            <a:r>
              <a:rPr sz="900" b="0" i="0" dirty="0">
                <a:solidFill>
                  <a:srgbClr val="FFFFFF"/>
                </a:solidFill>
                <a:latin typeface="Calibri"/>
              </a:rPr>
              <a:t> </a:t>
            </a:r>
            <a:r>
              <a:rPr sz="900" b="0" i="0" dirty="0" err="1">
                <a:solidFill>
                  <a:srgbClr val="FFFFFF"/>
                </a:solidFill>
                <a:latin typeface="Calibri"/>
              </a:rPr>
              <a:t>perder</a:t>
            </a:r>
            <a:r>
              <a:rPr sz="900" b="0" i="0" dirty="0">
                <a:solidFill>
                  <a:srgbClr val="FFFFFF"/>
                </a:solidFill>
                <a:latin typeface="Calibri"/>
              </a:rPr>
              <a:t> </a:t>
            </a:r>
            <a:r>
              <a:rPr sz="900" b="0" i="0" dirty="0" err="1">
                <a:solidFill>
                  <a:srgbClr val="FFFFFF"/>
                </a:solidFill>
                <a:latin typeface="Calibri"/>
              </a:rPr>
              <a:t>granularidad</a:t>
            </a:r>
            <a:r>
              <a:rPr sz="900" b="0" i="0" dirty="0">
                <a:solidFill>
                  <a:srgbClr val="FFFFFF"/>
                </a:solidFill>
                <a:latin typeface="Calibri"/>
              </a:rPr>
              <a:t> a </a:t>
            </a:r>
            <a:r>
              <a:rPr sz="900" b="0" i="0" dirty="0" err="1">
                <a:solidFill>
                  <a:srgbClr val="FFFFFF"/>
                </a:solidFill>
                <a:latin typeface="Calibri"/>
              </a:rPr>
              <a:t>cambio</a:t>
            </a:r>
            <a:r>
              <a:rPr sz="900" b="0" i="0" dirty="0">
                <a:solidFill>
                  <a:srgbClr val="FFFFFF"/>
                </a:solidFill>
                <a:latin typeface="Calibri"/>
              </a:rPr>
              <a:t> de un </a:t>
            </a:r>
            <a:r>
              <a:rPr sz="900" b="0" i="0" dirty="0" err="1">
                <a:solidFill>
                  <a:srgbClr val="FFFFFF"/>
                </a:solidFill>
                <a:latin typeface="Calibri"/>
              </a:rPr>
              <a:t>modelo</a:t>
            </a:r>
            <a:r>
              <a:rPr sz="900" b="0" i="0" dirty="0">
                <a:solidFill>
                  <a:srgbClr val="FFFFFF"/>
                </a:solidFill>
                <a:latin typeface="Calibri"/>
              </a:rPr>
              <a:t> explicable.</a:t>
            </a:r>
          </a:p>
        </p:txBody>
      </p:sp>
      <p:sp>
        <p:nvSpPr>
          <p:cNvPr id="7" name="TextBox 6"/>
          <p:cNvSpPr txBox="1"/>
          <p:nvPr/>
        </p:nvSpPr>
        <p:spPr>
          <a:xfrm>
            <a:off x="621794" y="768096"/>
            <a:ext cx="7955279" cy="219456"/>
          </a:xfrm>
          <a:prstGeom prst="rect">
            <a:avLst/>
          </a:prstGeom>
          <a:noFill/>
        </p:spPr>
        <p:txBody>
          <a:bodyPr wrap="square" lIns="0" tIns="0" rIns="0" bIns="0" anchor="t">
            <a:spAutoFit/>
          </a:bodyPr>
          <a:lstStyle/>
          <a:p>
            <a:pPr algn="l">
              <a:lnSpc>
                <a:spcPct val="100000"/>
              </a:lnSpc>
            </a:pPr>
            <a:r>
              <a:rPr sz="1200" b="1" i="0">
                <a:solidFill>
                  <a:srgbClr val="E8A33D"/>
                </a:solidFill>
                <a:latin typeface="Calibri"/>
              </a:rPr>
              <a:t>Por qué la selección va antes del encoding</a:t>
            </a:r>
          </a:p>
        </p:txBody>
      </p:sp>
      <p:sp>
        <p:nvSpPr>
          <p:cNvPr id="11" name="Rectangle 10"/>
          <p:cNvSpPr/>
          <p:nvPr/>
        </p:nvSpPr>
        <p:spPr>
          <a:xfrm>
            <a:off x="411480" y="3959958"/>
            <a:ext cx="2779776" cy="75834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17973" y="4021054"/>
            <a:ext cx="2523744" cy="237744"/>
          </a:xfrm>
          <a:prstGeom prst="rect">
            <a:avLst/>
          </a:prstGeom>
          <a:noFill/>
        </p:spPr>
        <p:txBody>
          <a:bodyPr wrap="square" lIns="0" tIns="0" rIns="0" bIns="0" anchor="t">
            <a:spAutoFit/>
          </a:bodyPr>
          <a:lstStyle/>
          <a:p>
            <a:pPr algn="l">
              <a:lnSpc>
                <a:spcPct val="100000"/>
              </a:lnSpc>
            </a:pPr>
            <a:r>
              <a:rPr sz="1000" b="1" i="0" dirty="0">
                <a:solidFill>
                  <a:srgbClr val="0B3D5C"/>
                </a:solidFill>
                <a:latin typeface="Calibri"/>
              </a:rPr>
              <a:t>Un </a:t>
            </a:r>
            <a:r>
              <a:rPr sz="1000" b="1" i="0" dirty="0" err="1">
                <a:solidFill>
                  <a:srgbClr val="0B3D5C"/>
                </a:solidFill>
                <a:latin typeface="Calibri"/>
              </a:rPr>
              <a:t>criterio</a:t>
            </a:r>
            <a:r>
              <a:rPr sz="1000" b="1" i="0" dirty="0">
                <a:solidFill>
                  <a:srgbClr val="0B3D5C"/>
                </a:solidFill>
                <a:latin typeface="Calibri"/>
              </a:rPr>
              <a:t> </a:t>
            </a:r>
            <a:r>
              <a:rPr sz="1000" b="1" i="0" dirty="0" err="1">
                <a:solidFill>
                  <a:srgbClr val="0B3D5C"/>
                </a:solidFill>
                <a:latin typeface="Calibri"/>
              </a:rPr>
              <a:t>por</a:t>
            </a:r>
            <a:r>
              <a:rPr sz="1000" b="1" i="0" dirty="0">
                <a:solidFill>
                  <a:srgbClr val="0B3D5C"/>
                </a:solidFill>
                <a:latin typeface="Calibri"/>
              </a:rPr>
              <a:t> </a:t>
            </a:r>
            <a:r>
              <a:rPr sz="1000" b="1" i="0" dirty="0" err="1">
                <a:solidFill>
                  <a:srgbClr val="0B3D5C"/>
                </a:solidFill>
                <a:latin typeface="Calibri"/>
              </a:rPr>
              <a:t>tipo</a:t>
            </a:r>
            <a:r>
              <a:rPr sz="1000" b="1" i="0" dirty="0">
                <a:solidFill>
                  <a:srgbClr val="0B3D5C"/>
                </a:solidFill>
                <a:latin typeface="Calibri"/>
              </a:rPr>
              <a:t> de variable</a:t>
            </a:r>
          </a:p>
        </p:txBody>
      </p:sp>
      <p:sp>
        <p:nvSpPr>
          <p:cNvPr id="13" name="TextBox 12"/>
          <p:cNvSpPr txBox="1"/>
          <p:nvPr/>
        </p:nvSpPr>
        <p:spPr>
          <a:xfrm>
            <a:off x="509759" y="4250807"/>
            <a:ext cx="2523744" cy="786384"/>
          </a:xfrm>
          <a:prstGeom prst="rect">
            <a:avLst/>
          </a:prstGeom>
          <a:noFill/>
        </p:spPr>
        <p:txBody>
          <a:bodyPr wrap="square" lIns="0" tIns="0" rIns="0" bIns="0" anchor="t">
            <a:spAutoFit/>
          </a:bodyPr>
          <a:lstStyle/>
          <a:p>
            <a:pPr algn="l">
              <a:lnSpc>
                <a:spcPct val="108000"/>
              </a:lnSpc>
            </a:pPr>
            <a:r>
              <a:rPr sz="800" b="0" i="0">
                <a:solidFill>
                  <a:srgbClr val="24292E"/>
                </a:solidFill>
                <a:latin typeface="Calibri"/>
              </a:rPr>
              <a:t>ANOVA F para numéricas · Chi² y V de Cramér para categóricas · información mutua para ambas, que es la única que permite compararlas entre sí.</a:t>
            </a:r>
          </a:p>
        </p:txBody>
      </p:sp>
      <p:sp>
        <p:nvSpPr>
          <p:cNvPr id="14" name="Rectangle 13"/>
          <p:cNvSpPr/>
          <p:nvPr/>
        </p:nvSpPr>
        <p:spPr>
          <a:xfrm>
            <a:off x="3182112" y="3971914"/>
            <a:ext cx="2779776" cy="746389"/>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279461" y="3971915"/>
            <a:ext cx="2523744" cy="237744"/>
          </a:xfrm>
          <a:prstGeom prst="rect">
            <a:avLst/>
          </a:prstGeom>
          <a:noFill/>
        </p:spPr>
        <p:txBody>
          <a:bodyPr wrap="square" lIns="0" tIns="0" rIns="0" bIns="0" anchor="t">
            <a:spAutoFit/>
          </a:bodyPr>
          <a:lstStyle/>
          <a:p>
            <a:pPr algn="l">
              <a:lnSpc>
                <a:spcPct val="100000"/>
              </a:lnSpc>
            </a:pPr>
            <a:r>
              <a:rPr sz="1000" b="1" i="0">
                <a:solidFill>
                  <a:srgbClr val="0B3D5C"/>
                </a:solidFill>
                <a:latin typeface="Calibri"/>
              </a:rPr>
              <a:t>Redundancia cruzada por tipo</a:t>
            </a:r>
          </a:p>
        </p:txBody>
      </p:sp>
      <p:sp>
        <p:nvSpPr>
          <p:cNvPr id="16" name="TextBox 15"/>
          <p:cNvSpPr txBox="1"/>
          <p:nvPr/>
        </p:nvSpPr>
        <p:spPr>
          <a:xfrm>
            <a:off x="3310128" y="4227947"/>
            <a:ext cx="2523744" cy="786384"/>
          </a:xfrm>
          <a:prstGeom prst="rect">
            <a:avLst/>
          </a:prstGeom>
          <a:noFill/>
        </p:spPr>
        <p:txBody>
          <a:bodyPr wrap="square" lIns="0" tIns="0" rIns="0" bIns="0" anchor="t">
            <a:spAutoFit/>
          </a:bodyPr>
          <a:lstStyle/>
          <a:p>
            <a:pPr algn="l">
              <a:lnSpc>
                <a:spcPct val="108000"/>
              </a:lnSpc>
            </a:pPr>
            <a:r>
              <a:rPr sz="800" b="0" i="0">
                <a:solidFill>
                  <a:srgbClr val="24292E"/>
                </a:solidFill>
                <a:latin typeface="Calibri"/>
              </a:rPr>
              <a:t>Pearson/Spearman y VIF entre numéricas (todos OK) · V de Cramér entre categóricas · Eta² en el cruce mixto.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dissolve">
                                      <p:cBhvr>
                                        <p:cTn id="7" dur="500"/>
                                        <p:tgtEl>
                                          <p:spTgt spid="24"/>
                                        </p:tgtEl>
                                      </p:cBhvr>
                                    </p:animEffect>
                                  </p:childTnLst>
                                </p:cTn>
                              </p:par>
                            </p:childTnLst>
                          </p:cTn>
                        </p:par>
                        <p:par>
                          <p:cTn id="8" fill="hold">
                            <p:stCondLst>
                              <p:cond delay="0"/>
                            </p:stCondLst>
                            <p:childTnLst>
                              <p:par>
                                <p:cTn id="9" presetID="9" presetClass="exit" presetSubtype="0" fill="hold" nodeType="withEffect">
                                  <p:stCondLst>
                                    <p:cond delay="0"/>
                                  </p:stCondLst>
                                  <p:childTnLst>
                                    <p:set>
                                      <p:cBhvr>
                                        <p:cTn id="10" dur="1" fill="hold">
                                          <p:stCondLst>
                                            <p:cond delay="500"/>
                                          </p:stCondLst>
                                        </p:cTn>
                                        <p:tgtEl>
                                          <p:spTgt spid="21"/>
                                        </p:tgtEl>
                                        <p:attrNameLst>
                                          <p:attrName>style.visibility</p:attrName>
                                        </p:attrNameLst>
                                      </p:cBhvr>
                                      <p:to>
                                        <p:strVal val="hidden"/>
                                      </p:to>
                                    </p:set>
                                    <p:animEffect transition="out" filter="dissolve">
                                      <p:cBhvr>
                                        <p:cTn id="1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74904" y="182880"/>
            <a:ext cx="7315200" cy="219456"/>
          </a:xfrm>
          <a:prstGeom prst="rect">
            <a:avLst/>
          </a:prstGeom>
          <a:noFill/>
        </p:spPr>
        <p:txBody>
          <a:bodyPr wrap="square" lIns="0" tIns="0" rIns="0" bIns="0" anchor="t">
            <a:spAutoFit/>
          </a:bodyPr>
          <a:lstStyle/>
          <a:p>
            <a:pPr algn="l">
              <a:lnSpc>
                <a:spcPct val="100000"/>
              </a:lnSpc>
            </a:pPr>
            <a:r>
              <a:rPr sz="900" b="1" i="0">
                <a:solidFill>
                  <a:srgbClr val="1C7293"/>
                </a:solidFill>
                <a:latin typeface="Calibri"/>
              </a:rPr>
              <a:t>06 · CODIFICACIÓN, BALANCE Y PCA</a:t>
            </a:r>
          </a:p>
        </p:txBody>
      </p:sp>
      <p:sp>
        <p:nvSpPr>
          <p:cNvPr id="3" name="TextBox 2"/>
          <p:cNvSpPr txBox="1"/>
          <p:nvPr/>
        </p:nvSpPr>
        <p:spPr>
          <a:xfrm>
            <a:off x="374904" y="365760"/>
            <a:ext cx="8366760" cy="457200"/>
          </a:xfrm>
          <a:prstGeom prst="rect">
            <a:avLst/>
          </a:prstGeom>
          <a:noFill/>
        </p:spPr>
        <p:txBody>
          <a:bodyPr wrap="square" lIns="0" tIns="0" rIns="0" bIns="0" anchor="t">
            <a:spAutoFit/>
          </a:bodyPr>
          <a:lstStyle/>
          <a:p>
            <a:pPr algn="l">
              <a:lnSpc>
                <a:spcPct val="100000"/>
              </a:lnSpc>
            </a:pPr>
            <a:r>
              <a:rPr sz="2000" b="1" i="0">
                <a:solidFill>
                  <a:srgbClr val="0B3D5C"/>
                </a:solidFill>
                <a:latin typeface="Calibri"/>
              </a:rPr>
              <a:t>De 18 variables a 26 columnas</a:t>
            </a:r>
          </a:p>
        </p:txBody>
      </p:sp>
      <p:sp>
        <p:nvSpPr>
          <p:cNvPr id="4" name="TextBox 3"/>
          <p:cNvSpPr txBox="1"/>
          <p:nvPr/>
        </p:nvSpPr>
        <p:spPr>
          <a:xfrm>
            <a:off x="347472" y="4846320"/>
            <a:ext cx="5486400" cy="201168"/>
          </a:xfrm>
          <a:prstGeom prst="rect">
            <a:avLst/>
          </a:prstGeom>
          <a:noFill/>
        </p:spPr>
        <p:txBody>
          <a:bodyPr wrap="square" lIns="0" tIns="0" rIns="0" bIns="0" anchor="t">
            <a:spAutoFit/>
          </a:bodyPr>
          <a:lstStyle/>
          <a:p>
            <a:pPr algn="l">
              <a:lnSpc>
                <a:spcPct val="100000"/>
              </a:lnSpc>
            </a:pPr>
            <a:r>
              <a:rPr sz="700" b="0" i="0">
                <a:solidFill>
                  <a:srgbClr val="AAB4BD"/>
                </a:solidFill>
                <a:latin typeface="Calibri"/>
              </a:rPr>
              <a:t>Diabetes 130-US Hospitals — Reingreso Hospitalario</a:t>
            </a:r>
          </a:p>
        </p:txBody>
      </p:sp>
      <p:sp>
        <p:nvSpPr>
          <p:cNvPr id="5" name="TextBox 4"/>
          <p:cNvSpPr txBox="1"/>
          <p:nvPr/>
        </p:nvSpPr>
        <p:spPr>
          <a:xfrm>
            <a:off x="8138160" y="4846320"/>
            <a:ext cx="658368" cy="201168"/>
          </a:xfrm>
          <a:prstGeom prst="rect">
            <a:avLst/>
          </a:prstGeom>
          <a:noFill/>
        </p:spPr>
        <p:txBody>
          <a:bodyPr wrap="square" lIns="0" tIns="0" rIns="0" bIns="0" anchor="t">
            <a:spAutoFit/>
          </a:bodyPr>
          <a:lstStyle/>
          <a:p>
            <a:pPr algn="r">
              <a:lnSpc>
                <a:spcPct val="100000"/>
              </a:lnSpc>
            </a:pPr>
            <a:r>
              <a:rPr sz="700" b="0" i="0">
                <a:solidFill>
                  <a:srgbClr val="AAB4BD"/>
                </a:solidFill>
                <a:latin typeface="Calibri"/>
              </a:rPr>
              <a:t>7 / 8</a:t>
            </a:r>
          </a:p>
        </p:txBody>
      </p:sp>
      <p:sp>
        <p:nvSpPr>
          <p:cNvPr id="6" name="Rectangle 5"/>
          <p:cNvSpPr/>
          <p:nvPr/>
        </p:nvSpPr>
        <p:spPr>
          <a:xfrm>
            <a:off x="411480" y="841248"/>
            <a:ext cx="8321040" cy="603504"/>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21792" y="905256"/>
            <a:ext cx="7955279" cy="219456"/>
          </a:xfrm>
          <a:prstGeom prst="rect">
            <a:avLst/>
          </a:prstGeom>
          <a:noFill/>
        </p:spPr>
        <p:txBody>
          <a:bodyPr wrap="square" lIns="0" tIns="0" rIns="0" bIns="0" anchor="t">
            <a:spAutoFit/>
          </a:bodyPr>
          <a:lstStyle/>
          <a:p>
            <a:pPr algn="l">
              <a:lnSpc>
                <a:spcPct val="100000"/>
              </a:lnSpc>
            </a:pPr>
            <a:r>
              <a:rPr sz="1200" b="1" i="0">
                <a:solidFill>
                  <a:srgbClr val="E8A33D"/>
                </a:solidFill>
                <a:latin typeface="Calibri"/>
              </a:rPr>
              <a:t>Un umbral de cardinalidad, no una lista de variables</a:t>
            </a:r>
          </a:p>
        </p:txBody>
      </p:sp>
      <p:sp>
        <p:nvSpPr>
          <p:cNvPr id="8" name="TextBox 7"/>
          <p:cNvSpPr txBox="1"/>
          <p:nvPr/>
        </p:nvSpPr>
        <p:spPr>
          <a:xfrm>
            <a:off x="621792" y="1133856"/>
            <a:ext cx="7955279" cy="256032"/>
          </a:xfrm>
          <a:prstGeom prst="rect">
            <a:avLst/>
          </a:prstGeom>
          <a:noFill/>
        </p:spPr>
        <p:txBody>
          <a:bodyPr wrap="square" lIns="0" tIns="0" rIns="0" bIns="0" anchor="t">
            <a:spAutoFit/>
          </a:bodyPr>
          <a:lstStyle/>
          <a:p>
            <a:pPr algn="l">
              <a:lnSpc>
                <a:spcPct val="105000"/>
              </a:lnSpc>
            </a:pPr>
            <a:r>
              <a:rPr sz="900" b="0" i="0">
                <a:solidFill>
                  <a:srgbClr val="FFFFFF"/>
                </a:solidFill>
                <a:latin typeface="Calibri"/>
              </a:rPr>
              <a:t>Nominal con ≥ 10 categorías → target encoding OUT-OF-FOLD (7): medical_specialty, discharge_disposition_id, payer_code, admission_source_id, diag_2, diag_3, diag_1 · nominal con &lt; 10 → one-hot (3): A1Cresult (4), familia_biguanidas (4), familia_insulina (4) · con orden intrínseco → ordinal (4) · numéricas sin codificar (4). Todo se ajusta únicamente con train.</a:t>
            </a:r>
          </a:p>
        </p:txBody>
      </p:sp>
      <p:pic>
        <p:nvPicPr>
          <p:cNvPr id="9" name="Picture 8" descr="s7_balance.png"/>
          <p:cNvPicPr>
            <a:picLocks noChangeAspect="1"/>
          </p:cNvPicPr>
          <p:nvPr/>
        </p:nvPicPr>
        <p:blipFill>
          <a:blip r:embed="rId2"/>
          <a:stretch>
            <a:fillRect/>
          </a:stretch>
        </p:blipFill>
        <p:spPr>
          <a:xfrm>
            <a:off x="411480" y="1554480"/>
            <a:ext cx="4023360" cy="1828800"/>
          </a:xfrm>
          <a:prstGeom prst="rect">
            <a:avLst/>
          </a:prstGeom>
        </p:spPr>
      </p:pic>
      <p:pic>
        <p:nvPicPr>
          <p:cNvPr id="10" name="Picture 9" descr="s7_pca.png"/>
          <p:cNvPicPr>
            <a:picLocks noChangeAspect="1"/>
          </p:cNvPicPr>
          <p:nvPr/>
        </p:nvPicPr>
        <p:blipFill>
          <a:blip r:embed="rId3"/>
          <a:stretch>
            <a:fillRect/>
          </a:stretch>
        </p:blipFill>
        <p:spPr>
          <a:xfrm>
            <a:off x="4709160" y="1554480"/>
            <a:ext cx="4023360" cy="1828800"/>
          </a:xfrm>
          <a:prstGeom prst="rect">
            <a:avLst/>
          </a:prstGeom>
        </p:spPr>
      </p:pic>
      <p:sp>
        <p:nvSpPr>
          <p:cNvPr id="11" name="Rectangle 10"/>
          <p:cNvSpPr/>
          <p:nvPr/>
        </p:nvSpPr>
        <p:spPr>
          <a:xfrm>
            <a:off x="411480" y="3493008"/>
            <a:ext cx="2779776" cy="12252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9496" y="3584448"/>
            <a:ext cx="2523744" cy="237744"/>
          </a:xfrm>
          <a:prstGeom prst="rect">
            <a:avLst/>
          </a:prstGeom>
          <a:noFill/>
        </p:spPr>
        <p:txBody>
          <a:bodyPr wrap="square" lIns="0" tIns="0" rIns="0" bIns="0" anchor="t">
            <a:spAutoFit/>
          </a:bodyPr>
          <a:lstStyle/>
          <a:p>
            <a:pPr algn="l">
              <a:lnSpc>
                <a:spcPct val="100000"/>
              </a:lnSpc>
            </a:pPr>
            <a:r>
              <a:rPr sz="1000" b="1" i="0">
                <a:solidFill>
                  <a:srgbClr val="0B3D5C"/>
                </a:solidFill>
                <a:latin typeface="Calibri"/>
              </a:rPr>
              <a:t>El umbral cae en un hueco real</a:t>
            </a:r>
          </a:p>
        </p:txBody>
      </p:sp>
      <p:sp>
        <p:nvSpPr>
          <p:cNvPr id="13" name="TextBox 12"/>
          <p:cNvSpPr txBox="1"/>
          <p:nvPr/>
        </p:nvSpPr>
        <p:spPr>
          <a:xfrm>
            <a:off x="539496" y="3840480"/>
            <a:ext cx="2523744" cy="786384"/>
          </a:xfrm>
          <a:prstGeom prst="rect">
            <a:avLst/>
          </a:prstGeom>
          <a:noFill/>
        </p:spPr>
        <p:txBody>
          <a:bodyPr wrap="square" lIns="0" tIns="0" rIns="0" bIns="0" anchor="t">
            <a:spAutoFit/>
          </a:bodyPr>
          <a:lstStyle/>
          <a:p>
            <a:pPr algn="l">
              <a:lnSpc>
                <a:spcPct val="108000"/>
              </a:lnSpc>
            </a:pPr>
            <a:r>
              <a:rPr sz="800" b="0" i="0">
                <a:solidFill>
                  <a:srgbClr val="24292E"/>
                </a:solidFill>
                <a:latin typeface="Calibri"/>
              </a:rPr>
              <a:t>La nominal más chica del grupo target encoding tiene 11 categorías y la más grande del grupo one-hot tiene 4: ninguna en el medio. Cualquier corte entre 5 y 11 da la misma partición, así que el 10 no está elegido a medida.</a:t>
            </a:r>
          </a:p>
        </p:txBody>
      </p:sp>
      <p:sp>
        <p:nvSpPr>
          <p:cNvPr id="14" name="Rectangle 13"/>
          <p:cNvSpPr/>
          <p:nvPr/>
        </p:nvSpPr>
        <p:spPr>
          <a:xfrm>
            <a:off x="3182112" y="3493008"/>
            <a:ext cx="2779776" cy="12252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310128" y="3584448"/>
            <a:ext cx="2523744" cy="237744"/>
          </a:xfrm>
          <a:prstGeom prst="rect">
            <a:avLst/>
          </a:prstGeom>
          <a:noFill/>
        </p:spPr>
        <p:txBody>
          <a:bodyPr wrap="square" lIns="0" tIns="0" rIns="0" bIns="0" anchor="t">
            <a:spAutoFit/>
          </a:bodyPr>
          <a:lstStyle/>
          <a:p>
            <a:pPr algn="l">
              <a:lnSpc>
                <a:spcPct val="100000"/>
              </a:lnSpc>
            </a:pPr>
            <a:r>
              <a:rPr sz="1000" b="1" i="0">
                <a:solidFill>
                  <a:srgbClr val="0B3D5C"/>
                </a:solidFill>
                <a:latin typeface="Calibri"/>
              </a:rPr>
              <a:t>Out-of-fold contra la auto-fuga</a:t>
            </a:r>
          </a:p>
        </p:txBody>
      </p:sp>
      <p:sp>
        <p:nvSpPr>
          <p:cNvPr id="16" name="TextBox 15"/>
          <p:cNvSpPr txBox="1"/>
          <p:nvPr/>
        </p:nvSpPr>
        <p:spPr>
          <a:xfrm>
            <a:off x="3310128" y="3840480"/>
            <a:ext cx="2523744" cy="786384"/>
          </a:xfrm>
          <a:prstGeom prst="rect">
            <a:avLst/>
          </a:prstGeom>
          <a:noFill/>
        </p:spPr>
        <p:txBody>
          <a:bodyPr wrap="square" lIns="0" tIns="0" rIns="0" bIns="0" anchor="t">
            <a:spAutoFit/>
          </a:bodyPr>
          <a:lstStyle/>
          <a:p>
            <a:pPr algn="l">
              <a:lnSpc>
                <a:spcPct val="108000"/>
              </a:lnSpc>
            </a:pPr>
            <a:r>
              <a:rPr sz="800" b="0" i="0">
                <a:solidFill>
                  <a:srgbClr val="24292E"/>
                </a:solidFill>
                <a:latin typeface="Calibri"/>
              </a:rPr>
              <a:t>La codificación de cada fila se calcula con los otros folds, nunca con el suyo. Eso quita hasta un 26 % de asociación aparente en medical_specialty, que era artefacto del encoding.</a:t>
            </a:r>
          </a:p>
        </p:txBody>
      </p:sp>
      <p:sp>
        <p:nvSpPr>
          <p:cNvPr id="17" name="Rectangle 16"/>
          <p:cNvSpPr/>
          <p:nvPr/>
        </p:nvSpPr>
        <p:spPr>
          <a:xfrm>
            <a:off x="5952744" y="3493008"/>
            <a:ext cx="2779776" cy="12252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080759" y="3584448"/>
            <a:ext cx="2523744" cy="237744"/>
          </a:xfrm>
          <a:prstGeom prst="rect">
            <a:avLst/>
          </a:prstGeom>
          <a:noFill/>
        </p:spPr>
        <p:txBody>
          <a:bodyPr wrap="square" lIns="0" tIns="0" rIns="0" bIns="0" anchor="t">
            <a:spAutoFit/>
          </a:bodyPr>
          <a:lstStyle/>
          <a:p>
            <a:pPr algn="l">
              <a:lnSpc>
                <a:spcPct val="100000"/>
              </a:lnSpc>
            </a:pPr>
            <a:r>
              <a:rPr sz="1000" b="1" i="0">
                <a:solidFill>
                  <a:srgbClr val="0B3D5C"/>
                </a:solidFill>
                <a:latin typeface="Calibri"/>
              </a:rPr>
              <a:t>PCA sobre la matriz reducida</a:t>
            </a:r>
          </a:p>
        </p:txBody>
      </p:sp>
      <p:sp>
        <p:nvSpPr>
          <p:cNvPr id="19" name="TextBox 18"/>
          <p:cNvSpPr txBox="1"/>
          <p:nvPr/>
        </p:nvSpPr>
        <p:spPr>
          <a:xfrm>
            <a:off x="6080759" y="3840480"/>
            <a:ext cx="2523744" cy="786384"/>
          </a:xfrm>
          <a:prstGeom prst="rect">
            <a:avLst/>
          </a:prstGeom>
          <a:noFill/>
        </p:spPr>
        <p:txBody>
          <a:bodyPr wrap="square" lIns="0" tIns="0" rIns="0" bIns="0" anchor="t">
            <a:spAutoFit/>
          </a:bodyPr>
          <a:lstStyle/>
          <a:p>
            <a:pPr algn="l">
              <a:lnSpc>
                <a:spcPct val="108000"/>
              </a:lnSpc>
            </a:pPr>
            <a:r>
              <a:rPr sz="800" b="0" i="0">
                <a:solidFill>
                  <a:srgbClr val="24292E"/>
                </a:solidFill>
                <a:latin typeface="Calibri"/>
              </a:rPr>
              <a:t>Hacen falta 20 de 26 componentes para el 90 % de la varianza. El modelado usa las variables seleccionadas sin PCA, por interpretabilidad.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91902" y="-56187"/>
            <a:ext cx="9656147" cy="5514810"/>
          </a:xfrm>
          <a:prstGeom prst="rect">
            <a:avLst/>
          </a:prstGeom>
          <a:solidFill>
            <a:srgbClr val="082B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74904" y="182880"/>
            <a:ext cx="7315200" cy="219456"/>
          </a:xfrm>
          <a:prstGeom prst="rect">
            <a:avLst/>
          </a:prstGeom>
          <a:noFill/>
        </p:spPr>
        <p:txBody>
          <a:bodyPr wrap="square" lIns="0" tIns="0" rIns="0" bIns="0" anchor="t">
            <a:spAutoFit/>
          </a:bodyPr>
          <a:lstStyle/>
          <a:p>
            <a:pPr algn="l">
              <a:lnSpc>
                <a:spcPct val="100000"/>
              </a:lnSpc>
            </a:pPr>
            <a:r>
              <a:rPr sz="900" b="1" i="0">
                <a:solidFill>
                  <a:srgbClr val="E8A33D"/>
                </a:solidFill>
                <a:latin typeface="Calibri"/>
              </a:rPr>
              <a:t>07 · MODELADO Y CONCLUSIONES</a:t>
            </a:r>
          </a:p>
        </p:txBody>
      </p:sp>
      <p:sp>
        <p:nvSpPr>
          <p:cNvPr id="4" name="TextBox 3"/>
          <p:cNvSpPr txBox="1"/>
          <p:nvPr/>
        </p:nvSpPr>
        <p:spPr>
          <a:xfrm>
            <a:off x="346030" y="399016"/>
            <a:ext cx="8366760" cy="457200"/>
          </a:xfrm>
          <a:prstGeom prst="rect">
            <a:avLst/>
          </a:prstGeom>
          <a:noFill/>
        </p:spPr>
        <p:txBody>
          <a:bodyPr wrap="square" lIns="0" tIns="0" rIns="0" bIns="0" anchor="t">
            <a:spAutoFit/>
          </a:bodyPr>
          <a:lstStyle/>
          <a:p>
            <a:pPr algn="l">
              <a:lnSpc>
                <a:spcPct val="100000"/>
              </a:lnSpc>
            </a:pPr>
            <a:r>
              <a:rPr sz="2000" b="1" i="0">
                <a:solidFill>
                  <a:srgbClr val="FFFFFF"/>
                </a:solidFill>
                <a:latin typeface="Calibri"/>
              </a:rPr>
              <a:t>Resultados e insights clínicos</a:t>
            </a:r>
          </a:p>
        </p:txBody>
      </p:sp>
      <p:sp>
        <p:nvSpPr>
          <p:cNvPr id="5" name="TextBox 4"/>
          <p:cNvSpPr txBox="1"/>
          <p:nvPr/>
        </p:nvSpPr>
        <p:spPr>
          <a:xfrm>
            <a:off x="347472" y="4846320"/>
            <a:ext cx="5486400" cy="201168"/>
          </a:xfrm>
          <a:prstGeom prst="rect">
            <a:avLst/>
          </a:prstGeom>
          <a:noFill/>
        </p:spPr>
        <p:txBody>
          <a:bodyPr wrap="square" lIns="0" tIns="0" rIns="0" bIns="0" anchor="t">
            <a:spAutoFit/>
          </a:bodyPr>
          <a:lstStyle/>
          <a:p>
            <a:pPr algn="l">
              <a:lnSpc>
                <a:spcPct val="100000"/>
              </a:lnSpc>
            </a:pPr>
            <a:r>
              <a:rPr sz="700" b="0" i="0">
                <a:solidFill>
                  <a:srgbClr val="6E86A0"/>
                </a:solidFill>
                <a:latin typeface="Calibri"/>
              </a:rPr>
              <a:t>Diabetes 130-US Hospitals — Reingreso Hospitalario</a:t>
            </a:r>
          </a:p>
        </p:txBody>
      </p:sp>
      <p:sp>
        <p:nvSpPr>
          <p:cNvPr id="6" name="TextBox 5"/>
          <p:cNvSpPr txBox="1"/>
          <p:nvPr/>
        </p:nvSpPr>
        <p:spPr>
          <a:xfrm>
            <a:off x="8138160" y="4846320"/>
            <a:ext cx="658368" cy="201168"/>
          </a:xfrm>
          <a:prstGeom prst="rect">
            <a:avLst/>
          </a:prstGeom>
          <a:noFill/>
        </p:spPr>
        <p:txBody>
          <a:bodyPr wrap="square" lIns="0" tIns="0" rIns="0" bIns="0" anchor="t">
            <a:spAutoFit/>
          </a:bodyPr>
          <a:lstStyle/>
          <a:p>
            <a:pPr algn="r">
              <a:lnSpc>
                <a:spcPct val="100000"/>
              </a:lnSpc>
            </a:pPr>
            <a:r>
              <a:rPr sz="700" b="0" i="0">
                <a:solidFill>
                  <a:srgbClr val="6E86A0"/>
                </a:solidFill>
                <a:latin typeface="Calibri"/>
              </a:rPr>
              <a:t>8 / 8</a:t>
            </a:r>
          </a:p>
        </p:txBody>
      </p:sp>
      <p:pic>
        <p:nvPicPr>
          <p:cNvPr id="7" name="Picture 6" descr="s8_modelos.png"/>
          <p:cNvPicPr>
            <a:picLocks noChangeAspect="1"/>
          </p:cNvPicPr>
          <p:nvPr/>
        </p:nvPicPr>
        <p:blipFill>
          <a:blip r:embed="rId2"/>
          <a:stretch>
            <a:fillRect/>
          </a:stretch>
        </p:blipFill>
        <p:spPr>
          <a:xfrm>
            <a:off x="384048" y="969264"/>
            <a:ext cx="4846320" cy="1899473"/>
          </a:xfrm>
          <a:prstGeom prst="rect">
            <a:avLst/>
          </a:prstGeom>
        </p:spPr>
      </p:pic>
      <p:sp>
        <p:nvSpPr>
          <p:cNvPr id="8" name="Rectangle 7"/>
          <p:cNvSpPr/>
          <p:nvPr/>
        </p:nvSpPr>
        <p:spPr>
          <a:xfrm>
            <a:off x="5673111" y="256032"/>
            <a:ext cx="54864" cy="859536"/>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43600" y="261222"/>
            <a:ext cx="2303979" cy="153888"/>
          </a:xfrm>
          <a:prstGeom prst="rect">
            <a:avLst/>
          </a:prstGeom>
          <a:noFill/>
        </p:spPr>
        <p:txBody>
          <a:bodyPr wrap="square" lIns="0" tIns="0" rIns="0" bIns="0" anchor="t">
            <a:spAutoFit/>
          </a:bodyPr>
          <a:lstStyle/>
          <a:p>
            <a:pPr algn="l">
              <a:lnSpc>
                <a:spcPct val="100000"/>
              </a:lnSpc>
            </a:pPr>
            <a:r>
              <a:rPr sz="1000" b="1" i="0" dirty="0">
                <a:solidFill>
                  <a:srgbClr val="FFFFFF"/>
                </a:solidFill>
                <a:latin typeface="Calibri"/>
              </a:rPr>
              <a:t>Tipo de </a:t>
            </a:r>
            <a:r>
              <a:rPr sz="1000" b="1" i="0" dirty="0" err="1">
                <a:solidFill>
                  <a:srgbClr val="FFFFFF"/>
                </a:solidFill>
                <a:latin typeface="Calibri"/>
              </a:rPr>
              <a:t>alta</a:t>
            </a:r>
            <a:r>
              <a:rPr sz="1000" b="1" i="0" dirty="0">
                <a:solidFill>
                  <a:srgbClr val="FFFFFF"/>
                </a:solidFill>
                <a:latin typeface="Calibri"/>
              </a:rPr>
              <a:t> e </a:t>
            </a:r>
            <a:r>
              <a:rPr sz="1000" b="1" i="0" dirty="0" err="1">
                <a:solidFill>
                  <a:srgbClr val="FFFFFF"/>
                </a:solidFill>
                <a:latin typeface="Calibri"/>
              </a:rPr>
              <a:t>historial</a:t>
            </a:r>
            <a:r>
              <a:rPr sz="1000" b="1" i="0" dirty="0">
                <a:solidFill>
                  <a:srgbClr val="FFFFFF"/>
                </a:solidFill>
                <a:latin typeface="Calibri"/>
              </a:rPr>
              <a:t> </a:t>
            </a:r>
            <a:r>
              <a:rPr sz="1000" b="1" i="0" dirty="0" err="1">
                <a:solidFill>
                  <a:srgbClr val="FFFFFF"/>
                </a:solidFill>
                <a:latin typeface="Calibri"/>
              </a:rPr>
              <a:t>previo</a:t>
            </a:r>
            <a:r>
              <a:rPr sz="1000" b="1" i="0" dirty="0">
                <a:solidFill>
                  <a:srgbClr val="FFFFFF"/>
                </a:solidFill>
                <a:latin typeface="Calibri"/>
              </a:rPr>
              <a:t> </a:t>
            </a:r>
            <a:r>
              <a:rPr sz="1000" b="1" i="0" dirty="0" err="1">
                <a:solidFill>
                  <a:srgbClr val="FFFFFF"/>
                </a:solidFill>
                <a:latin typeface="Calibri"/>
              </a:rPr>
              <a:t>dominan</a:t>
            </a:r>
            <a:endParaRPr sz="1000" b="1" i="0" dirty="0">
              <a:solidFill>
                <a:srgbClr val="FFFFFF"/>
              </a:solidFill>
              <a:latin typeface="Calibri"/>
            </a:endParaRPr>
          </a:p>
        </p:txBody>
      </p:sp>
      <p:sp>
        <p:nvSpPr>
          <p:cNvPr id="10" name="TextBox 9"/>
          <p:cNvSpPr txBox="1"/>
          <p:nvPr/>
        </p:nvSpPr>
        <p:spPr>
          <a:xfrm>
            <a:off x="5943600" y="561442"/>
            <a:ext cx="2566766" cy="392800"/>
          </a:xfrm>
          <a:prstGeom prst="rect">
            <a:avLst/>
          </a:prstGeom>
          <a:noFill/>
        </p:spPr>
        <p:txBody>
          <a:bodyPr wrap="square" lIns="0" tIns="0" rIns="0" bIns="0" anchor="t">
            <a:spAutoFit/>
          </a:bodyPr>
          <a:lstStyle/>
          <a:p>
            <a:pPr algn="l">
              <a:lnSpc>
                <a:spcPct val="108000"/>
              </a:lnSpc>
            </a:pPr>
            <a:r>
              <a:rPr sz="800" b="0" i="0" dirty="0" err="1">
                <a:solidFill>
                  <a:schemeClr val="bg1"/>
                </a:solidFill>
                <a:latin typeface="Calibri"/>
              </a:rPr>
              <a:t>discharge_disposition_id</a:t>
            </a:r>
            <a:r>
              <a:rPr sz="800" b="0" i="0" dirty="0">
                <a:solidFill>
                  <a:schemeClr val="bg1"/>
                </a:solidFill>
                <a:latin typeface="Calibri"/>
              </a:rPr>
              <a:t> y </a:t>
            </a:r>
            <a:r>
              <a:rPr sz="800" b="0" i="0" dirty="0" err="1">
                <a:solidFill>
                  <a:schemeClr val="bg1"/>
                </a:solidFill>
                <a:latin typeface="Calibri"/>
              </a:rPr>
              <a:t>number_inpatient_disc</a:t>
            </a:r>
            <a:r>
              <a:rPr sz="800" b="0" i="0" dirty="0">
                <a:solidFill>
                  <a:schemeClr val="bg1"/>
                </a:solidFill>
                <a:latin typeface="Calibri"/>
              </a:rPr>
              <a:t> </a:t>
            </a:r>
            <a:r>
              <a:rPr sz="800" b="0" i="0" dirty="0" err="1">
                <a:solidFill>
                  <a:schemeClr val="bg1"/>
                </a:solidFill>
                <a:latin typeface="Calibri"/>
              </a:rPr>
              <a:t>encabezan</a:t>
            </a:r>
            <a:r>
              <a:rPr sz="800" b="0" i="0" dirty="0">
                <a:solidFill>
                  <a:schemeClr val="bg1"/>
                </a:solidFill>
                <a:latin typeface="Calibri"/>
              </a:rPr>
              <a:t> la </a:t>
            </a:r>
            <a:r>
              <a:rPr sz="800" b="0" i="0" dirty="0" err="1">
                <a:solidFill>
                  <a:schemeClr val="bg1"/>
                </a:solidFill>
                <a:latin typeface="Calibri"/>
              </a:rPr>
              <a:t>importancia</a:t>
            </a:r>
            <a:r>
              <a:rPr sz="800" b="0" i="0" dirty="0">
                <a:solidFill>
                  <a:schemeClr val="bg1"/>
                </a:solidFill>
                <a:latin typeface="Calibri"/>
              </a:rPr>
              <a:t> </a:t>
            </a:r>
            <a:r>
              <a:rPr sz="800" b="0" i="0" dirty="0" err="1">
                <a:solidFill>
                  <a:schemeClr val="bg1"/>
                </a:solidFill>
                <a:latin typeface="Calibri"/>
              </a:rPr>
              <a:t>en</a:t>
            </a:r>
            <a:r>
              <a:rPr sz="800" b="0" i="0" dirty="0">
                <a:solidFill>
                  <a:schemeClr val="bg1"/>
                </a:solidFill>
                <a:latin typeface="Calibri"/>
              </a:rPr>
              <a:t> </a:t>
            </a:r>
            <a:r>
              <a:rPr sz="800" b="0" i="0" dirty="0" err="1">
                <a:solidFill>
                  <a:schemeClr val="bg1"/>
                </a:solidFill>
                <a:latin typeface="Calibri"/>
              </a:rPr>
              <a:t>los</a:t>
            </a:r>
            <a:r>
              <a:rPr sz="800" b="0" i="0" dirty="0">
                <a:solidFill>
                  <a:schemeClr val="bg1"/>
                </a:solidFill>
                <a:latin typeface="Calibri"/>
              </a:rPr>
              <a:t> cuatro </a:t>
            </a:r>
            <a:r>
              <a:rPr sz="800" b="0" i="0" dirty="0" err="1">
                <a:solidFill>
                  <a:schemeClr val="bg1"/>
                </a:solidFill>
                <a:latin typeface="Calibri"/>
              </a:rPr>
              <a:t>modelos</a:t>
            </a:r>
            <a:r>
              <a:rPr sz="800" b="0" i="0" dirty="0">
                <a:solidFill>
                  <a:schemeClr val="bg1"/>
                </a:solidFill>
                <a:latin typeface="Calibri"/>
              </a:rPr>
              <a:t>, </a:t>
            </a:r>
            <a:r>
              <a:rPr sz="800" b="0" i="0" dirty="0" err="1">
                <a:solidFill>
                  <a:schemeClr val="bg1"/>
                </a:solidFill>
                <a:latin typeface="Calibri"/>
              </a:rPr>
              <a:t>consistente</a:t>
            </a:r>
            <a:r>
              <a:rPr sz="800" b="0" i="0" dirty="0">
                <a:solidFill>
                  <a:schemeClr val="bg1"/>
                </a:solidFill>
                <a:latin typeface="Calibri"/>
              </a:rPr>
              <a:t> con el EDA </a:t>
            </a:r>
            <a:r>
              <a:rPr sz="800" b="0" i="0" dirty="0" err="1">
                <a:solidFill>
                  <a:schemeClr val="bg1"/>
                </a:solidFill>
                <a:latin typeface="Calibri"/>
              </a:rPr>
              <a:t>analítico</a:t>
            </a:r>
            <a:r>
              <a:rPr sz="800" b="0" i="0" dirty="0">
                <a:solidFill>
                  <a:schemeClr val="bg1"/>
                </a:solidFill>
                <a:latin typeface="Calibri"/>
              </a:rPr>
              <a:t>.</a:t>
            </a:r>
          </a:p>
        </p:txBody>
      </p:sp>
      <p:sp>
        <p:nvSpPr>
          <p:cNvPr id="11" name="Rectangle 10"/>
          <p:cNvSpPr/>
          <p:nvPr/>
        </p:nvSpPr>
        <p:spPr>
          <a:xfrm>
            <a:off x="5673111" y="1328113"/>
            <a:ext cx="54864" cy="859536"/>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43600" y="1354256"/>
            <a:ext cx="3200400" cy="237744"/>
          </a:xfrm>
          <a:prstGeom prst="rect">
            <a:avLst/>
          </a:prstGeom>
          <a:noFill/>
        </p:spPr>
        <p:txBody>
          <a:bodyPr wrap="square" lIns="0" tIns="0" rIns="0" bIns="0" anchor="t">
            <a:spAutoFit/>
          </a:bodyPr>
          <a:lstStyle/>
          <a:p>
            <a:pPr algn="l">
              <a:lnSpc>
                <a:spcPct val="100000"/>
              </a:lnSpc>
            </a:pPr>
            <a:r>
              <a:rPr sz="1000" b="1" i="0" dirty="0">
                <a:solidFill>
                  <a:srgbClr val="FFFFFF"/>
                </a:solidFill>
                <a:latin typeface="Calibri"/>
              </a:rPr>
              <a:t>Las </a:t>
            </a:r>
            <a:r>
              <a:rPr sz="1000" b="1" i="0" dirty="0" err="1">
                <a:solidFill>
                  <a:srgbClr val="FFFFFF"/>
                </a:solidFill>
                <a:latin typeface="Calibri"/>
              </a:rPr>
              <a:t>demográficas</a:t>
            </a:r>
            <a:r>
              <a:rPr sz="1000" b="1" i="0" dirty="0">
                <a:solidFill>
                  <a:srgbClr val="FFFFFF"/>
                </a:solidFill>
                <a:latin typeface="Calibri"/>
              </a:rPr>
              <a:t> </a:t>
            </a:r>
            <a:r>
              <a:rPr sz="1000" b="1" i="0" dirty="0" err="1">
                <a:solidFill>
                  <a:srgbClr val="FFFFFF"/>
                </a:solidFill>
                <a:latin typeface="Calibri"/>
              </a:rPr>
              <a:t>quedaron</a:t>
            </a:r>
            <a:r>
              <a:rPr sz="1000" b="1" i="0" dirty="0">
                <a:solidFill>
                  <a:srgbClr val="FFFFFF"/>
                </a:solidFill>
                <a:latin typeface="Calibri"/>
              </a:rPr>
              <a:t> fuera</a:t>
            </a:r>
          </a:p>
        </p:txBody>
      </p:sp>
      <p:sp>
        <p:nvSpPr>
          <p:cNvPr id="13" name="TextBox 12"/>
          <p:cNvSpPr txBox="1"/>
          <p:nvPr/>
        </p:nvSpPr>
        <p:spPr>
          <a:xfrm>
            <a:off x="5943600" y="1691883"/>
            <a:ext cx="2715871" cy="259815"/>
          </a:xfrm>
          <a:prstGeom prst="rect">
            <a:avLst/>
          </a:prstGeom>
          <a:noFill/>
        </p:spPr>
        <p:txBody>
          <a:bodyPr wrap="square" lIns="0" tIns="0" rIns="0" bIns="0" anchor="t">
            <a:spAutoFit/>
          </a:bodyPr>
          <a:lstStyle/>
          <a:p>
            <a:pPr algn="l">
              <a:lnSpc>
                <a:spcPct val="108000"/>
              </a:lnSpc>
            </a:pPr>
            <a:r>
              <a:rPr sz="800" b="0" i="0" dirty="0">
                <a:solidFill>
                  <a:schemeClr val="bg1"/>
                </a:solidFill>
                <a:latin typeface="Calibri"/>
              </a:rPr>
              <a:t>race y gender </a:t>
            </a:r>
            <a:r>
              <a:rPr sz="800" b="0" i="0" dirty="0" err="1">
                <a:solidFill>
                  <a:schemeClr val="bg1"/>
                </a:solidFill>
                <a:latin typeface="Calibri"/>
              </a:rPr>
              <a:t>tienen</a:t>
            </a:r>
            <a:r>
              <a:rPr sz="800" b="0" i="0" dirty="0">
                <a:solidFill>
                  <a:schemeClr val="bg1"/>
                </a:solidFill>
                <a:latin typeface="Calibri"/>
              </a:rPr>
              <a:t> la </a:t>
            </a:r>
            <a:r>
              <a:rPr sz="800" b="0" i="0" dirty="0" err="1">
                <a:solidFill>
                  <a:schemeClr val="bg1"/>
                </a:solidFill>
                <a:latin typeface="Calibri"/>
              </a:rPr>
              <a:t>menor</a:t>
            </a:r>
            <a:r>
              <a:rPr sz="800" b="0" i="0" dirty="0">
                <a:solidFill>
                  <a:schemeClr val="bg1"/>
                </a:solidFill>
                <a:latin typeface="Calibri"/>
              </a:rPr>
              <a:t> </a:t>
            </a:r>
            <a:r>
              <a:rPr sz="800" b="0" i="0" dirty="0" err="1">
                <a:solidFill>
                  <a:schemeClr val="bg1"/>
                </a:solidFill>
                <a:latin typeface="Calibri"/>
              </a:rPr>
              <a:t>asociación</a:t>
            </a:r>
            <a:r>
              <a:rPr sz="800" b="0" i="0" dirty="0">
                <a:solidFill>
                  <a:schemeClr val="bg1"/>
                </a:solidFill>
                <a:latin typeface="Calibri"/>
              </a:rPr>
              <a:t> con el target (V de Cramér ≈ 0.02) y no </a:t>
            </a:r>
            <a:r>
              <a:rPr sz="800" b="0" i="0" dirty="0" err="1">
                <a:solidFill>
                  <a:schemeClr val="bg1"/>
                </a:solidFill>
                <a:latin typeface="Calibri"/>
              </a:rPr>
              <a:t>sobrevivieron</a:t>
            </a:r>
            <a:r>
              <a:rPr sz="800" b="0" i="0" dirty="0">
                <a:solidFill>
                  <a:schemeClr val="bg1"/>
                </a:solidFill>
                <a:latin typeface="Calibri"/>
              </a:rPr>
              <a:t> a la </a:t>
            </a:r>
            <a:r>
              <a:rPr sz="800" b="0" i="0" dirty="0" err="1">
                <a:solidFill>
                  <a:schemeClr val="bg1"/>
                </a:solidFill>
                <a:latin typeface="Calibri"/>
              </a:rPr>
              <a:t>selección</a:t>
            </a:r>
            <a:r>
              <a:rPr sz="800" b="0" i="0" dirty="0">
                <a:solidFill>
                  <a:schemeClr val="bg1"/>
                </a:solidFill>
                <a:latin typeface="Calibri"/>
              </a:rPr>
              <a:t> de variables</a:t>
            </a:r>
            <a:r>
              <a:rPr sz="800" b="0" i="0" dirty="0">
                <a:solidFill>
                  <a:srgbClr val="CADCFC"/>
                </a:solidFill>
                <a:latin typeface="Calibri"/>
              </a:rPr>
              <a:t>.</a:t>
            </a:r>
          </a:p>
        </p:txBody>
      </p:sp>
      <p:sp>
        <p:nvSpPr>
          <p:cNvPr id="14" name="Rectangle 13"/>
          <p:cNvSpPr/>
          <p:nvPr/>
        </p:nvSpPr>
        <p:spPr>
          <a:xfrm>
            <a:off x="5673111" y="2330502"/>
            <a:ext cx="54864" cy="859536"/>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651399" y="2582346"/>
            <a:ext cx="3200400" cy="237744"/>
          </a:xfrm>
          <a:prstGeom prst="rect">
            <a:avLst/>
          </a:prstGeom>
          <a:noFill/>
        </p:spPr>
        <p:txBody>
          <a:bodyPr wrap="square" lIns="0" tIns="0" rIns="0" bIns="0" anchor="t">
            <a:spAutoFit/>
          </a:bodyPr>
          <a:lstStyle/>
          <a:p>
            <a:pPr algn="l">
              <a:lnSpc>
                <a:spcPct val="100000"/>
              </a:lnSpc>
            </a:pPr>
            <a:r>
              <a:rPr sz="1000" b="1" i="0" dirty="0">
                <a:solidFill>
                  <a:srgbClr val="FFFFFF"/>
                </a:solidFill>
                <a:latin typeface="Calibri"/>
              </a:rPr>
              <a:t>Gradient Boosting, el </a:t>
            </a:r>
            <a:r>
              <a:rPr sz="1000" b="1" i="0" dirty="0" err="1">
                <a:solidFill>
                  <a:srgbClr val="FFFFFF"/>
                </a:solidFill>
                <a:latin typeface="Calibri"/>
              </a:rPr>
              <a:t>más</a:t>
            </a:r>
            <a:r>
              <a:rPr sz="1000" b="1" i="0" dirty="0">
                <a:solidFill>
                  <a:srgbClr val="FFFFFF"/>
                </a:solidFill>
                <a:latin typeface="Calibri"/>
              </a:rPr>
              <a:t> </a:t>
            </a:r>
            <a:r>
              <a:rPr sz="1000" b="1" i="0" dirty="0" err="1">
                <a:solidFill>
                  <a:srgbClr val="FFFFFF"/>
                </a:solidFill>
                <a:latin typeface="Calibri"/>
              </a:rPr>
              <a:t>robusto</a:t>
            </a:r>
            <a:endParaRPr sz="1000" b="1" i="0" dirty="0">
              <a:solidFill>
                <a:srgbClr val="FFFFFF"/>
              </a:solidFill>
              <a:latin typeface="Calibri"/>
            </a:endParaRPr>
          </a:p>
        </p:txBody>
      </p:sp>
      <p:sp>
        <p:nvSpPr>
          <p:cNvPr id="16" name="TextBox 15"/>
          <p:cNvSpPr txBox="1"/>
          <p:nvPr/>
        </p:nvSpPr>
        <p:spPr>
          <a:xfrm>
            <a:off x="1272830" y="2826155"/>
            <a:ext cx="3200400" cy="640080"/>
          </a:xfrm>
          <a:prstGeom prst="rect">
            <a:avLst/>
          </a:prstGeom>
          <a:noFill/>
        </p:spPr>
        <p:txBody>
          <a:bodyPr wrap="square" lIns="0" tIns="0" rIns="0" bIns="0" anchor="t">
            <a:spAutoFit/>
          </a:bodyPr>
          <a:lstStyle/>
          <a:p>
            <a:pPr algn="l">
              <a:lnSpc>
                <a:spcPct val="108000"/>
              </a:lnSpc>
            </a:pPr>
            <a:r>
              <a:rPr sz="800" b="0" i="0" dirty="0">
                <a:solidFill>
                  <a:srgbClr val="CADCFC"/>
                </a:solidFill>
                <a:latin typeface="Calibri"/>
              </a:rPr>
              <a:t>Sin remuestrear, solo con class_weight: recall 0.59 y ROC-AUC 0.67. Random Forest con la misma estrategia llega a 0.26.</a:t>
            </a:r>
          </a:p>
        </p:txBody>
      </p:sp>
      <p:sp>
        <p:nvSpPr>
          <p:cNvPr id="19" name="TextBox 18"/>
          <p:cNvSpPr txBox="1"/>
          <p:nvPr/>
        </p:nvSpPr>
        <p:spPr>
          <a:xfrm>
            <a:off x="581625" y="3679071"/>
            <a:ext cx="4517136" cy="357021"/>
          </a:xfrm>
          <a:prstGeom prst="rect">
            <a:avLst/>
          </a:prstGeom>
          <a:noFill/>
        </p:spPr>
        <p:txBody>
          <a:bodyPr wrap="square" lIns="0" tIns="0" rIns="0" bIns="0" anchor="t">
            <a:spAutoFit/>
          </a:bodyPr>
          <a:lstStyle/>
          <a:p>
            <a:pPr algn="l">
              <a:lnSpc>
                <a:spcPct val="120000"/>
              </a:lnSpc>
            </a:pPr>
            <a:r>
              <a:rPr sz="1000" b="0" i="1" dirty="0" err="1">
                <a:solidFill>
                  <a:schemeClr val="bg1"/>
                </a:solidFill>
              </a:rPr>
              <a:t>Ninguna</a:t>
            </a:r>
            <a:r>
              <a:rPr sz="1000" b="0" i="1" dirty="0">
                <a:solidFill>
                  <a:schemeClr val="bg1"/>
                </a:solidFill>
              </a:rPr>
              <a:t> variable </a:t>
            </a:r>
            <a:r>
              <a:rPr sz="1000" b="0" i="1" dirty="0" err="1">
                <a:solidFill>
                  <a:schemeClr val="bg1"/>
                </a:solidFill>
              </a:rPr>
              <a:t>aislada</a:t>
            </a:r>
            <a:r>
              <a:rPr sz="1000" b="0" i="1" dirty="0">
                <a:solidFill>
                  <a:schemeClr val="bg1"/>
                </a:solidFill>
              </a:rPr>
              <a:t> </a:t>
            </a:r>
            <a:r>
              <a:rPr sz="1000" b="0" i="1" dirty="0" err="1">
                <a:solidFill>
                  <a:schemeClr val="bg1"/>
                </a:solidFill>
              </a:rPr>
              <a:t>explica</a:t>
            </a:r>
            <a:r>
              <a:rPr sz="1000" b="0" i="1" dirty="0">
                <a:solidFill>
                  <a:schemeClr val="bg1"/>
                </a:solidFill>
              </a:rPr>
              <a:t> el </a:t>
            </a:r>
            <a:r>
              <a:rPr sz="1000" b="0" i="1" dirty="0" err="1">
                <a:solidFill>
                  <a:schemeClr val="bg1"/>
                </a:solidFill>
              </a:rPr>
              <a:t>reingreso</a:t>
            </a:r>
            <a:r>
              <a:rPr lang="en-US" sz="1000" i="1" dirty="0">
                <a:solidFill>
                  <a:schemeClr val="bg1"/>
                </a:solidFill>
              </a:rPr>
              <a:t> </a:t>
            </a:r>
            <a:r>
              <a:rPr lang="en-US" sz="1000" i="1" dirty="0" err="1">
                <a:solidFill>
                  <a:schemeClr val="bg1"/>
                </a:solidFill>
              </a:rPr>
              <a:t>temprano</a:t>
            </a:r>
            <a:r>
              <a:rPr sz="1000" b="0" i="1" dirty="0">
                <a:solidFill>
                  <a:schemeClr val="bg1"/>
                </a:solidFill>
              </a:rPr>
              <a:t> es un </a:t>
            </a:r>
            <a:r>
              <a:rPr sz="1000" b="0" i="1" dirty="0" err="1">
                <a:solidFill>
                  <a:schemeClr val="bg1"/>
                </a:solidFill>
              </a:rPr>
              <a:t>fenómeno</a:t>
            </a:r>
            <a:r>
              <a:rPr sz="1000" b="0" i="1" dirty="0">
                <a:solidFill>
                  <a:schemeClr val="bg1"/>
                </a:solidFill>
              </a:rPr>
              <a:t> multifactorial, lo </a:t>
            </a:r>
            <a:r>
              <a:rPr sz="1000" b="0" i="1" dirty="0" err="1">
                <a:solidFill>
                  <a:schemeClr val="bg1"/>
                </a:solidFill>
              </a:rPr>
              <a:t>que</a:t>
            </a:r>
            <a:r>
              <a:rPr sz="1000" b="0" i="1" dirty="0">
                <a:solidFill>
                  <a:schemeClr val="bg1"/>
                </a:solidFill>
              </a:rPr>
              <a:t> </a:t>
            </a:r>
            <a:r>
              <a:rPr sz="1000" b="0" i="1" dirty="0" err="1">
                <a:solidFill>
                  <a:schemeClr val="bg1"/>
                </a:solidFill>
              </a:rPr>
              <a:t>justifica</a:t>
            </a:r>
            <a:r>
              <a:rPr sz="1000" b="0" i="1" dirty="0">
                <a:solidFill>
                  <a:schemeClr val="bg1"/>
                </a:solidFill>
              </a:rPr>
              <a:t> el </a:t>
            </a:r>
            <a:r>
              <a:rPr sz="1000" b="0" i="1" dirty="0" err="1">
                <a:solidFill>
                  <a:schemeClr val="bg1"/>
                </a:solidFill>
              </a:rPr>
              <a:t>modelado</a:t>
            </a:r>
            <a:r>
              <a:rPr sz="1000" b="0" i="1" dirty="0">
                <a:solidFill>
                  <a:schemeClr val="bg1"/>
                </a:solidFill>
              </a:rPr>
              <a:t> </a:t>
            </a:r>
            <a:r>
              <a:rPr sz="1000" b="0" i="1" dirty="0" err="1">
                <a:solidFill>
                  <a:schemeClr val="bg1"/>
                </a:solidFill>
              </a:rPr>
              <a:t>multivariado</a:t>
            </a:r>
            <a:r>
              <a:rPr sz="1000" b="0" i="1" dirty="0">
                <a:solidFill>
                  <a:schemeClr val="bg1"/>
                </a:solidFill>
              </a:rPr>
              <a:t>.</a:t>
            </a:r>
          </a:p>
        </p:txBody>
      </p:sp>
      <p:sp>
        <p:nvSpPr>
          <p:cNvPr id="20" name="Rectangle 13">
            <a:extLst>
              <a:ext uri="{FF2B5EF4-FFF2-40B4-BE49-F238E27FC236}">
                <a16:creationId xmlns:a16="http://schemas.microsoft.com/office/drawing/2014/main" id="{460FF7C2-20F0-699E-BA8A-1E13E41C6CDF}"/>
              </a:ext>
            </a:extLst>
          </p:cNvPr>
          <p:cNvSpPr/>
          <p:nvPr/>
        </p:nvSpPr>
        <p:spPr>
          <a:xfrm>
            <a:off x="5673111" y="3412425"/>
            <a:ext cx="54864" cy="859536"/>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CuadroTexto 20">
            <a:extLst>
              <a:ext uri="{FF2B5EF4-FFF2-40B4-BE49-F238E27FC236}">
                <a16:creationId xmlns:a16="http://schemas.microsoft.com/office/drawing/2014/main" id="{44B0EF95-1C86-9760-7EFA-BC4873259DA2}"/>
              </a:ext>
            </a:extLst>
          </p:cNvPr>
          <p:cNvSpPr txBox="1"/>
          <p:nvPr/>
        </p:nvSpPr>
        <p:spPr>
          <a:xfrm>
            <a:off x="5869047" y="2567626"/>
            <a:ext cx="2715871" cy="525657"/>
          </a:xfrm>
          <a:prstGeom prst="rect">
            <a:avLst/>
          </a:prstGeom>
          <a:noFill/>
        </p:spPr>
        <p:txBody>
          <a:bodyPr wrap="square" rtlCol="0">
            <a:spAutoFit/>
          </a:bodyPr>
          <a:lstStyle/>
          <a:p>
            <a:pPr>
              <a:lnSpc>
                <a:spcPct val="120000"/>
              </a:lnSpc>
            </a:pPr>
            <a:r>
              <a:rPr lang="es-ES" sz="800" dirty="0">
                <a:solidFill>
                  <a:schemeClr val="bg1"/>
                </a:solidFill>
              </a:rPr>
              <a:t>El reingreso pica en adultos jóvenes (20-30 años, ~14%), baja hacia la mediana edad y vuelve a subir  moderadamente en adultos mayores sin recuperar el pico.</a:t>
            </a:r>
          </a:p>
        </p:txBody>
      </p:sp>
      <p:sp>
        <p:nvSpPr>
          <p:cNvPr id="22" name="TextBox 8">
            <a:extLst>
              <a:ext uri="{FF2B5EF4-FFF2-40B4-BE49-F238E27FC236}">
                <a16:creationId xmlns:a16="http://schemas.microsoft.com/office/drawing/2014/main" id="{942C1A8A-E595-B0DA-6D1B-C5D5D63DA8FE}"/>
              </a:ext>
            </a:extLst>
          </p:cNvPr>
          <p:cNvSpPr txBox="1"/>
          <p:nvPr/>
        </p:nvSpPr>
        <p:spPr>
          <a:xfrm>
            <a:off x="5943600" y="2372976"/>
            <a:ext cx="2303979" cy="153888"/>
          </a:xfrm>
          <a:prstGeom prst="rect">
            <a:avLst/>
          </a:prstGeom>
          <a:noFill/>
        </p:spPr>
        <p:txBody>
          <a:bodyPr wrap="square" lIns="0" tIns="0" rIns="0" bIns="0" anchor="t">
            <a:spAutoFit/>
          </a:bodyPr>
          <a:lstStyle/>
          <a:p>
            <a:pPr algn="l">
              <a:lnSpc>
                <a:spcPct val="100000"/>
              </a:lnSpc>
            </a:pPr>
            <a:r>
              <a:rPr lang="en-US" sz="1000" b="1" i="0" dirty="0">
                <a:solidFill>
                  <a:srgbClr val="FFFFFF"/>
                </a:solidFill>
                <a:latin typeface="Calibri"/>
              </a:rPr>
              <a:t>Edad</a:t>
            </a:r>
            <a:endParaRPr sz="1000" b="1" i="0" dirty="0">
              <a:solidFill>
                <a:srgbClr val="FFFFFF"/>
              </a:solidFill>
              <a:latin typeface="Calibri"/>
            </a:endParaRPr>
          </a:p>
        </p:txBody>
      </p:sp>
      <p:sp>
        <p:nvSpPr>
          <p:cNvPr id="23" name="CuadroTexto 22">
            <a:extLst>
              <a:ext uri="{FF2B5EF4-FFF2-40B4-BE49-F238E27FC236}">
                <a16:creationId xmlns:a16="http://schemas.microsoft.com/office/drawing/2014/main" id="{E5319B6B-A090-FB8B-9DBE-FA38B5EF6175}"/>
              </a:ext>
            </a:extLst>
          </p:cNvPr>
          <p:cNvSpPr txBox="1"/>
          <p:nvPr/>
        </p:nvSpPr>
        <p:spPr>
          <a:xfrm>
            <a:off x="5869047" y="3695126"/>
            <a:ext cx="2630131" cy="584775"/>
          </a:xfrm>
          <a:prstGeom prst="rect">
            <a:avLst/>
          </a:prstGeom>
          <a:noFill/>
        </p:spPr>
        <p:txBody>
          <a:bodyPr wrap="square" rtlCol="0">
            <a:spAutoFit/>
          </a:bodyPr>
          <a:lstStyle/>
          <a:p>
            <a:r>
              <a:rPr lang="es-ES" sz="800" dirty="0">
                <a:solidFill>
                  <a:schemeClr val="bg1"/>
                </a:solidFill>
              </a:rPr>
              <a:t>Tercer miembro del trío de utilización previa del sistema de salud, pero mide seguimiento programado mientras que las otras dos miden crisis. El riesgo de reingreso lo predicen las crisis, no el control ambulatorio.</a:t>
            </a:r>
          </a:p>
        </p:txBody>
      </p:sp>
      <p:sp>
        <p:nvSpPr>
          <p:cNvPr id="24" name="TextBox 8">
            <a:extLst>
              <a:ext uri="{FF2B5EF4-FFF2-40B4-BE49-F238E27FC236}">
                <a16:creationId xmlns:a16="http://schemas.microsoft.com/office/drawing/2014/main" id="{A819B404-8C19-6344-4C49-664073717573}"/>
              </a:ext>
            </a:extLst>
          </p:cNvPr>
          <p:cNvSpPr txBox="1"/>
          <p:nvPr/>
        </p:nvSpPr>
        <p:spPr>
          <a:xfrm>
            <a:off x="5943600" y="3454381"/>
            <a:ext cx="2303979" cy="153888"/>
          </a:xfrm>
          <a:prstGeom prst="rect">
            <a:avLst/>
          </a:prstGeom>
          <a:noFill/>
        </p:spPr>
        <p:txBody>
          <a:bodyPr wrap="square" lIns="0" tIns="0" rIns="0" bIns="0" anchor="t">
            <a:spAutoFit/>
          </a:bodyPr>
          <a:lstStyle/>
          <a:p>
            <a:r>
              <a:rPr lang="es-ES" sz="1000" b="1" dirty="0">
                <a:solidFill>
                  <a:schemeClr val="bg1"/>
                </a:solidFill>
              </a:rPr>
              <a:t>number_outpatient afuera</a:t>
            </a:r>
            <a:endParaRPr sz="1000" i="0" dirty="0">
              <a:solidFill>
                <a:schemeClr val="bg1"/>
              </a:solidFill>
              <a:latin typeface="Calibri"/>
            </a:endParaRPr>
          </a:p>
        </p:txBody>
      </p:sp>
      <p:sp>
        <p:nvSpPr>
          <p:cNvPr id="25" name="Rectangle 13">
            <a:extLst>
              <a:ext uri="{FF2B5EF4-FFF2-40B4-BE49-F238E27FC236}">
                <a16:creationId xmlns:a16="http://schemas.microsoft.com/office/drawing/2014/main" id="{58E437A6-8897-10CE-CC88-7F226CC1AD8F}"/>
              </a:ext>
            </a:extLst>
          </p:cNvPr>
          <p:cNvSpPr/>
          <p:nvPr/>
        </p:nvSpPr>
        <p:spPr>
          <a:xfrm>
            <a:off x="157405" y="3420365"/>
            <a:ext cx="54864" cy="859536"/>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156</TotalTime>
  <Words>1447</Words>
  <Application>Microsoft Macintosh PowerPoint</Application>
  <PresentationFormat>Presentación en pantalla (16:9)</PresentationFormat>
  <Paragraphs>97</Paragraphs>
  <Slides>8</Slides>
  <Notes>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8</vt:i4>
      </vt:variant>
    </vt:vector>
  </HeadingPairs>
  <TitlesOfParts>
    <vt:vector size="11"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Carlos Lugones</cp:lastModifiedBy>
  <cp:revision>12</cp:revision>
  <dcterms:created xsi:type="dcterms:W3CDTF">2013-01-27T09:14:16Z</dcterms:created>
  <dcterms:modified xsi:type="dcterms:W3CDTF">2026-08-18T06:50:34Z</dcterms:modified>
  <cp:category/>
</cp:coreProperties>
</file>